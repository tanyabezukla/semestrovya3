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1" autoAdjust="0"/>
    <p:restoredTop sz="94610"/>
  </p:normalViewPr>
  <p:slideViewPr>
    <p:cSldViewPr snapToGrid="0" snapToObjects="1">
      <p:cViewPr>
        <p:scale>
          <a:sx n="96" d="100"/>
          <a:sy n="96" d="100"/>
        </p:scale>
        <p:origin x="19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193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первом слайде представлена тема семестровой работы: реализация АВЛ-дерева на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АВЛ-дерево — самобалансирующееся бинарное дерево поиска, предложенное в 1962 году.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особенность АВЛ-дерева — контроль баланса узлов. Если баланс нарушается, выполняются повороты.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 вставке элемент добавляется как в обычное дерево поиска, затем пересчитываются высоты и выполняется балансировка.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Поиск похож на поиск в обычном БДП: сравниваем значение и двигаемся влево или вправо.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Удаление имеет три случая: нет потомков, один потомок, два потомка. После удаления дерево балансируется.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операции имеют сложность O(log n), потому что высота дерева остается небольшой.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практической части были сгенерированы 10000 чисел, выполнены вставка, поиск и удаление с замерами времени и шагов.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графиках видно, что среднее число шагов близко к log2(10000), то есть к 13.29.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итоге реализация подтвердила теоретическую сложность АВЛ-дерева и его эффективность.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417320" y="310896"/>
            <a:ext cx="2743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6473952"/>
            <a:ext cx="397764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7699248" y="6473952"/>
            <a:ext cx="388620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6441948"/>
            <a:ext cx="64008" cy="6400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48872" y="6441948"/>
            <a:ext cx="64008" cy="6400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6364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Алгоритмы и структуры данных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16916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Семестровая работа № 3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566928" y="2514600"/>
            <a:ext cx="1234440" cy="0"/>
          </a:xfrm>
          <a:prstGeom prst="line">
            <a:avLst/>
          </a:prstGeom>
          <a:noFill/>
          <a:ln w="50800">
            <a:solidFill>
              <a:srgbClr val="005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0779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0057B8"/>
                </a:solidFill>
              </a:rPr>
              <a:t>АВЛ-дерево</a:t>
            </a:r>
            <a:endParaRPr lang="en-US" sz="3500" dirty="0"/>
          </a:p>
        </p:txBody>
      </p:sp>
      <p:sp>
        <p:nvSpPr>
          <p:cNvPr id="16" name="Text 14"/>
          <p:cNvSpPr/>
          <p:nvPr/>
        </p:nvSpPr>
        <p:spPr>
          <a:xfrm>
            <a:off x="566928" y="37033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</a:rPr>
              <a:t>Реализация структуры данных на Python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4846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70671" y="2457907"/>
            <a:ext cx="0" cy="97155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70671" y="2457907"/>
            <a:ext cx="854964" cy="97155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715707" y="3429457"/>
            <a:ext cx="0" cy="932688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715707" y="3429457"/>
            <a:ext cx="427482" cy="932688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25635" y="3429457"/>
            <a:ext cx="0" cy="932688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425635" y="3429457"/>
            <a:ext cx="427482" cy="932688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353044" y="2240280"/>
            <a:ext cx="435254" cy="43525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53044" y="2302459"/>
            <a:ext cx="435254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5" dirty="0">
                <a:solidFill>
                  <a:srgbClr val="111111"/>
                </a:solidFill>
              </a:rPr>
              <a:t>30</a:t>
            </a:r>
            <a:endParaRPr lang="en-US" sz="1445" dirty="0"/>
          </a:p>
        </p:txBody>
      </p:sp>
      <p:sp>
        <p:nvSpPr>
          <p:cNvPr id="32" name="Shape 30"/>
          <p:cNvSpPr/>
          <p:nvPr/>
        </p:nvSpPr>
        <p:spPr>
          <a:xfrm>
            <a:off x="8687257" y="2488997"/>
            <a:ext cx="233172" cy="186538"/>
          </a:xfrm>
          <a:prstGeom prst="roundRect">
            <a:avLst>
              <a:gd name="adj" fmla="val 24510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02802" y="2504542"/>
            <a:ext cx="194310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</a:rPr>
              <a:t>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498080" y="3211830"/>
            <a:ext cx="435254" cy="43525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3274009"/>
            <a:ext cx="435254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5" dirty="0">
                <a:solidFill>
                  <a:srgbClr val="111111"/>
                </a:solidFill>
              </a:rPr>
              <a:t>20</a:t>
            </a:r>
            <a:endParaRPr lang="en-US" sz="1445" dirty="0"/>
          </a:p>
        </p:txBody>
      </p:sp>
      <p:sp>
        <p:nvSpPr>
          <p:cNvPr id="36" name="Shape 34"/>
          <p:cNvSpPr/>
          <p:nvPr/>
        </p:nvSpPr>
        <p:spPr>
          <a:xfrm>
            <a:off x="7832293" y="3460547"/>
            <a:ext cx="233172" cy="186538"/>
          </a:xfrm>
          <a:prstGeom prst="roundRect">
            <a:avLst>
              <a:gd name="adj" fmla="val 24510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47838" y="3476092"/>
            <a:ext cx="194310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</a:rPr>
              <a:t>-1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208008" y="3211830"/>
            <a:ext cx="435254" cy="43525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08008" y="3274009"/>
            <a:ext cx="435254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5" dirty="0">
                <a:solidFill>
                  <a:srgbClr val="111111"/>
                </a:solidFill>
              </a:rPr>
              <a:t>40</a:t>
            </a:r>
            <a:endParaRPr lang="en-US" sz="1445" dirty="0"/>
          </a:p>
        </p:txBody>
      </p:sp>
      <p:sp>
        <p:nvSpPr>
          <p:cNvPr id="40" name="Shape 38"/>
          <p:cNvSpPr/>
          <p:nvPr/>
        </p:nvSpPr>
        <p:spPr>
          <a:xfrm>
            <a:off x="9542221" y="3460547"/>
            <a:ext cx="233172" cy="186538"/>
          </a:xfrm>
          <a:prstGeom prst="roundRect">
            <a:avLst>
              <a:gd name="adj" fmla="val 24510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57766" y="3476092"/>
            <a:ext cx="194310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</a:rPr>
              <a:t>1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070598" y="4144518"/>
            <a:ext cx="435254" cy="43525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70598" y="4206697"/>
            <a:ext cx="435254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5" dirty="0">
                <a:solidFill>
                  <a:srgbClr val="111111"/>
                </a:solidFill>
              </a:rPr>
              <a:t>10</a:t>
            </a:r>
            <a:endParaRPr lang="en-US" sz="1445" dirty="0"/>
          </a:p>
        </p:txBody>
      </p:sp>
      <p:sp>
        <p:nvSpPr>
          <p:cNvPr id="44" name="Shape 42"/>
          <p:cNvSpPr/>
          <p:nvPr/>
        </p:nvSpPr>
        <p:spPr>
          <a:xfrm>
            <a:off x="7404811" y="4393235"/>
            <a:ext cx="233172" cy="186538"/>
          </a:xfrm>
          <a:prstGeom prst="roundRect">
            <a:avLst>
              <a:gd name="adj" fmla="val 24510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20356" y="4408780"/>
            <a:ext cx="194310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</a:rPr>
              <a:t>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925562" y="4144518"/>
            <a:ext cx="435254" cy="43525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25562" y="4206697"/>
            <a:ext cx="435254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5" dirty="0">
                <a:solidFill>
                  <a:srgbClr val="111111"/>
                </a:solidFill>
              </a:rPr>
              <a:t>25</a:t>
            </a:r>
            <a:endParaRPr lang="en-US" sz="1445" dirty="0"/>
          </a:p>
        </p:txBody>
      </p:sp>
      <p:sp>
        <p:nvSpPr>
          <p:cNvPr id="48" name="Shape 46"/>
          <p:cNvSpPr/>
          <p:nvPr/>
        </p:nvSpPr>
        <p:spPr>
          <a:xfrm>
            <a:off x="8259775" y="4393235"/>
            <a:ext cx="233172" cy="186538"/>
          </a:xfrm>
          <a:prstGeom prst="roundRect">
            <a:avLst>
              <a:gd name="adj" fmla="val 24510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75320" y="4408780"/>
            <a:ext cx="194310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</a:rPr>
              <a:t>0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780526" y="4144518"/>
            <a:ext cx="435254" cy="43525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80526" y="4206697"/>
            <a:ext cx="435254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5" dirty="0">
                <a:solidFill>
                  <a:srgbClr val="111111"/>
                </a:solidFill>
              </a:rPr>
              <a:t>35</a:t>
            </a:r>
            <a:endParaRPr lang="en-US" sz="1445" dirty="0"/>
          </a:p>
        </p:txBody>
      </p:sp>
      <p:sp>
        <p:nvSpPr>
          <p:cNvPr id="52" name="Shape 50"/>
          <p:cNvSpPr/>
          <p:nvPr/>
        </p:nvSpPr>
        <p:spPr>
          <a:xfrm>
            <a:off x="9114739" y="4393235"/>
            <a:ext cx="233172" cy="186538"/>
          </a:xfrm>
          <a:prstGeom prst="roundRect">
            <a:avLst>
              <a:gd name="adj" fmla="val 24510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30284" y="4408780"/>
            <a:ext cx="194310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</a:rPr>
              <a:t>0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635490" y="4144518"/>
            <a:ext cx="435254" cy="43525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35490" y="4206697"/>
            <a:ext cx="435254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5" dirty="0">
                <a:solidFill>
                  <a:srgbClr val="111111"/>
                </a:solidFill>
              </a:rPr>
              <a:t>50</a:t>
            </a:r>
            <a:endParaRPr lang="en-US" sz="1445" dirty="0"/>
          </a:p>
        </p:txBody>
      </p:sp>
      <p:sp>
        <p:nvSpPr>
          <p:cNvPr id="56" name="Shape 54"/>
          <p:cNvSpPr/>
          <p:nvPr/>
        </p:nvSpPr>
        <p:spPr>
          <a:xfrm>
            <a:off x="9969703" y="4393235"/>
            <a:ext cx="233172" cy="186538"/>
          </a:xfrm>
          <a:prstGeom prst="roundRect">
            <a:avLst>
              <a:gd name="adj" fmla="val 24510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985248" y="4408780"/>
            <a:ext cx="194310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</a:rPr>
              <a:t>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58952"/>
            <a:ext cx="1106424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70432" y="301752"/>
            <a:ext cx="0" cy="50292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310896"/>
            <a:ext cx="2743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Московский Государственный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Технический Университет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rot="10800000">
            <a:off x="10561320" y="0"/>
            <a:ext cx="475488" cy="1005840"/>
          </a:xfrm>
          <a:prstGeom prst="chevron">
            <a:avLst/>
          </a:prstGeom>
          <a:solidFill>
            <a:srgbClr val="DBE8F8">
              <a:alpha val="95000"/>
            </a:srgbClr>
          </a:solidFill>
          <a:ln w="12700">
            <a:solidFill>
              <a:srgbClr val="DBE8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0" y="0"/>
            <a:ext cx="1234440" cy="1005840"/>
          </a:xfrm>
          <a:prstGeom prst="parallelogram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03152" y="347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2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02920" y="6473952"/>
            <a:ext cx="397764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699248" y="6473952"/>
            <a:ext cx="388620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6441948"/>
            <a:ext cx="64008" cy="6400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48872" y="6441948"/>
            <a:ext cx="64008" cy="6400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6364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Алгоритмы и структуры данных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17373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Что такое АВЛ-дерево?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566928" y="2514600"/>
            <a:ext cx="1234440" cy="0"/>
          </a:xfrm>
          <a:prstGeom prst="line">
            <a:avLst/>
          </a:prstGeom>
          <a:noFill/>
          <a:ln w="50800">
            <a:solidFill>
              <a:srgbClr val="0057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8950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57B8"/>
                </a:solidFill>
              </a:rPr>
              <a:t>• </a:t>
            </a:r>
            <a:r>
              <a:rPr lang="en-US" sz="1800" dirty="0">
                <a:solidFill>
                  <a:srgbClr val="111111"/>
                </a:solidFill>
              </a:rPr>
              <a:t>АВЛ-дерево — это самобалансирующееся бинарное дерево поиска.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66928" y="36576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57B8"/>
                </a:solidFill>
              </a:rPr>
              <a:t>• </a:t>
            </a:r>
            <a:r>
              <a:rPr lang="en-US" sz="1600" dirty="0">
                <a:solidFill>
                  <a:srgbClr val="111111"/>
                </a:solidFill>
              </a:rPr>
              <a:t>Предложено Г. М. Адельсоном-Вельским и Е. М. Ландисом в 1962 году.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" y="44348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57B8"/>
                </a:solidFill>
              </a:rPr>
              <a:t>• </a:t>
            </a:r>
            <a:r>
              <a:rPr lang="en-US" sz="1600" dirty="0">
                <a:solidFill>
                  <a:srgbClr val="111111"/>
                </a:solidFill>
              </a:rPr>
              <a:t>Название АВЛ образовано по первым буквам фамилий авторов.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" y="52120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57B8"/>
                </a:solidFill>
              </a:rPr>
              <a:t>• </a:t>
            </a:r>
            <a:r>
              <a:rPr lang="en-US" sz="1600" dirty="0">
                <a:solidFill>
                  <a:srgbClr val="111111"/>
                </a:solidFill>
              </a:rPr>
              <a:t>Главная цель — сохранять небольшую высоту дерева и ускорять операции.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77840" y="2971800"/>
            <a:ext cx="1828800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BB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32461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57B8"/>
                </a:solidFill>
              </a:rPr>
              <a:t>1962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80644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57B8"/>
                </a:solidFill>
              </a:rPr>
              <a:t>📅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806440" y="3886200"/>
            <a:ext cx="1325880" cy="0"/>
          </a:xfrm>
          <a:prstGeom prst="line">
            <a:avLst/>
          </a:prstGeom>
          <a:noFill/>
          <a:ln w="10160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420624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Г. М. Адельсон-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Вельский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06440" y="4892040"/>
            <a:ext cx="320040" cy="0"/>
          </a:xfrm>
          <a:prstGeom prst="line">
            <a:avLst/>
          </a:prstGeom>
          <a:noFill/>
          <a:ln w="17780">
            <a:solidFill>
              <a:srgbClr val="0057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5074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Е. М. Ландис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419783" y="2541666"/>
            <a:ext cx="0" cy="93726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19783" y="2541666"/>
            <a:ext cx="824789" cy="93726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594994" y="3478926"/>
            <a:ext cx="0" cy="89977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594994" y="3478926"/>
            <a:ext cx="412394" cy="89977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244572" y="3478926"/>
            <a:ext cx="0" cy="89977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244572" y="3478926"/>
            <a:ext cx="412394" cy="89977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209837" y="2331720"/>
            <a:ext cx="419892" cy="41989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09837" y="2391705"/>
            <a:ext cx="41989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4" dirty="0">
                <a:solidFill>
                  <a:srgbClr val="111111"/>
                </a:solidFill>
              </a:rPr>
              <a:t>30</a:t>
            </a:r>
            <a:endParaRPr lang="en-US" sz="1394" dirty="0"/>
          </a:p>
        </p:txBody>
      </p:sp>
      <p:sp>
        <p:nvSpPr>
          <p:cNvPr id="35" name="Shape 33"/>
          <p:cNvSpPr/>
          <p:nvPr/>
        </p:nvSpPr>
        <p:spPr>
          <a:xfrm>
            <a:off x="9532254" y="2571659"/>
            <a:ext cx="224942" cy="179954"/>
          </a:xfrm>
          <a:prstGeom prst="roundRect">
            <a:avLst>
              <a:gd name="adj" fmla="val 25406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47250" y="2586655"/>
            <a:ext cx="187452" cy="134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11111"/>
                </a:solidFill>
              </a:rPr>
              <a:t>0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8385048" y="3268980"/>
            <a:ext cx="419892" cy="41989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85048" y="3328965"/>
            <a:ext cx="41989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4" dirty="0">
                <a:solidFill>
                  <a:srgbClr val="111111"/>
                </a:solidFill>
              </a:rPr>
              <a:t>20</a:t>
            </a:r>
            <a:endParaRPr lang="en-US" sz="1394" dirty="0"/>
          </a:p>
        </p:txBody>
      </p:sp>
      <p:sp>
        <p:nvSpPr>
          <p:cNvPr id="39" name="Shape 37"/>
          <p:cNvSpPr/>
          <p:nvPr/>
        </p:nvSpPr>
        <p:spPr>
          <a:xfrm>
            <a:off x="8707465" y="3508919"/>
            <a:ext cx="224942" cy="179954"/>
          </a:xfrm>
          <a:prstGeom prst="roundRect">
            <a:avLst>
              <a:gd name="adj" fmla="val 25406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22462" y="3523915"/>
            <a:ext cx="187452" cy="134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11111"/>
                </a:solidFill>
              </a:rPr>
              <a:t>-1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10034626" y="3268980"/>
            <a:ext cx="419892" cy="41989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34626" y="3328965"/>
            <a:ext cx="41989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4" dirty="0">
                <a:solidFill>
                  <a:srgbClr val="111111"/>
                </a:solidFill>
              </a:rPr>
              <a:t>40</a:t>
            </a:r>
            <a:endParaRPr lang="en-US" sz="1394" dirty="0"/>
          </a:p>
        </p:txBody>
      </p:sp>
      <p:sp>
        <p:nvSpPr>
          <p:cNvPr id="43" name="Shape 41"/>
          <p:cNvSpPr/>
          <p:nvPr/>
        </p:nvSpPr>
        <p:spPr>
          <a:xfrm>
            <a:off x="10357043" y="3508919"/>
            <a:ext cx="224942" cy="179954"/>
          </a:xfrm>
          <a:prstGeom prst="roundRect">
            <a:avLst>
              <a:gd name="adj" fmla="val 25406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372039" y="3523915"/>
            <a:ext cx="187452" cy="134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11111"/>
                </a:solidFill>
              </a:rPr>
              <a:t>1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7972654" y="4168750"/>
            <a:ext cx="419892" cy="41989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72654" y="4228734"/>
            <a:ext cx="41989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4" dirty="0">
                <a:solidFill>
                  <a:srgbClr val="111111"/>
                </a:solidFill>
              </a:rPr>
              <a:t>10</a:t>
            </a:r>
            <a:endParaRPr lang="en-US" sz="1394" dirty="0"/>
          </a:p>
        </p:txBody>
      </p:sp>
      <p:sp>
        <p:nvSpPr>
          <p:cNvPr id="47" name="Shape 45"/>
          <p:cNvSpPr/>
          <p:nvPr/>
        </p:nvSpPr>
        <p:spPr>
          <a:xfrm>
            <a:off x="8295071" y="4408688"/>
            <a:ext cx="224942" cy="179954"/>
          </a:xfrm>
          <a:prstGeom prst="roundRect">
            <a:avLst>
              <a:gd name="adj" fmla="val 25406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10067" y="4423684"/>
            <a:ext cx="187452" cy="134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11111"/>
                </a:solidFill>
              </a:rPr>
              <a:t>0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8797442" y="4168750"/>
            <a:ext cx="419892" cy="41989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97442" y="4228734"/>
            <a:ext cx="41989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4" dirty="0">
                <a:solidFill>
                  <a:srgbClr val="111111"/>
                </a:solidFill>
              </a:rPr>
              <a:t>25</a:t>
            </a:r>
            <a:endParaRPr lang="en-US" sz="1394" dirty="0"/>
          </a:p>
        </p:txBody>
      </p:sp>
      <p:sp>
        <p:nvSpPr>
          <p:cNvPr id="51" name="Shape 49"/>
          <p:cNvSpPr/>
          <p:nvPr/>
        </p:nvSpPr>
        <p:spPr>
          <a:xfrm>
            <a:off x="9119860" y="4408688"/>
            <a:ext cx="224942" cy="179954"/>
          </a:xfrm>
          <a:prstGeom prst="roundRect">
            <a:avLst>
              <a:gd name="adj" fmla="val 25406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34856" y="4423684"/>
            <a:ext cx="187452" cy="134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11111"/>
                </a:solidFill>
              </a:rPr>
              <a:t>0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9622231" y="4168750"/>
            <a:ext cx="419892" cy="41989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622231" y="4228734"/>
            <a:ext cx="41989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4" dirty="0">
                <a:solidFill>
                  <a:srgbClr val="111111"/>
                </a:solidFill>
              </a:rPr>
              <a:t>35</a:t>
            </a:r>
            <a:endParaRPr lang="en-US" sz="1394" dirty="0"/>
          </a:p>
        </p:txBody>
      </p:sp>
      <p:sp>
        <p:nvSpPr>
          <p:cNvPr id="55" name="Shape 53"/>
          <p:cNvSpPr/>
          <p:nvPr/>
        </p:nvSpPr>
        <p:spPr>
          <a:xfrm>
            <a:off x="9944649" y="4408688"/>
            <a:ext cx="224942" cy="179954"/>
          </a:xfrm>
          <a:prstGeom prst="roundRect">
            <a:avLst>
              <a:gd name="adj" fmla="val 25406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959645" y="4423684"/>
            <a:ext cx="187452" cy="134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11111"/>
                </a:solidFill>
              </a:rPr>
              <a:t>0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10447020" y="4168750"/>
            <a:ext cx="419892" cy="41989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447020" y="4228734"/>
            <a:ext cx="41989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4" dirty="0">
                <a:solidFill>
                  <a:srgbClr val="111111"/>
                </a:solidFill>
              </a:rPr>
              <a:t>50</a:t>
            </a:r>
            <a:endParaRPr lang="en-US" sz="1394" dirty="0"/>
          </a:p>
        </p:txBody>
      </p:sp>
      <p:sp>
        <p:nvSpPr>
          <p:cNvPr id="59" name="Shape 57"/>
          <p:cNvSpPr/>
          <p:nvPr/>
        </p:nvSpPr>
        <p:spPr>
          <a:xfrm>
            <a:off x="10769437" y="4408688"/>
            <a:ext cx="224942" cy="179954"/>
          </a:xfrm>
          <a:prstGeom prst="roundRect">
            <a:avLst>
              <a:gd name="adj" fmla="val 25406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784434" y="4423684"/>
            <a:ext cx="187452" cy="134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11111"/>
                </a:solidFill>
              </a:rPr>
              <a:t>0</a:t>
            </a:r>
            <a:endParaRPr lang="en-US" sz="820"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0" y="9145"/>
            <a:ext cx="12192000" cy="111199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58952"/>
            <a:ext cx="1106424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70432" y="301752"/>
            <a:ext cx="0" cy="50292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310896"/>
            <a:ext cx="2743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Московский Государственный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Технический Университет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rot="10800000">
            <a:off x="10561320" y="0"/>
            <a:ext cx="475488" cy="1005840"/>
          </a:xfrm>
          <a:prstGeom prst="chevron">
            <a:avLst/>
          </a:prstGeom>
          <a:solidFill>
            <a:srgbClr val="DBE8F8">
              <a:alpha val="95000"/>
            </a:srgbClr>
          </a:solidFill>
          <a:ln w="12700">
            <a:solidFill>
              <a:srgbClr val="DBE8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0" y="0"/>
            <a:ext cx="1234440" cy="1005840"/>
          </a:xfrm>
          <a:prstGeom prst="parallelogram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03152" y="347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3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02920" y="6473952"/>
            <a:ext cx="397764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699248" y="6473952"/>
            <a:ext cx="388620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6441948"/>
            <a:ext cx="64008" cy="6400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48872" y="6441948"/>
            <a:ext cx="64008" cy="6400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6364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Алгоритмы и структуры данных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17373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Принцип работы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566928" y="2514600"/>
            <a:ext cx="1234440" cy="0"/>
          </a:xfrm>
          <a:prstGeom prst="line">
            <a:avLst/>
          </a:prstGeom>
          <a:noFill/>
          <a:ln w="50800">
            <a:solidFill>
              <a:srgbClr val="0057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803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57B8"/>
                </a:solidFill>
              </a:rPr>
              <a:t>• </a:t>
            </a:r>
            <a:r>
              <a:rPr lang="en-US" sz="1700" dirty="0">
                <a:solidFill>
                  <a:srgbClr val="111111"/>
                </a:solidFill>
              </a:rPr>
              <a:t>АВЛ-дерево является бинарным деревом поиска: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41832" y="34290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7B8"/>
                </a:solidFill>
              </a:rPr>
              <a:t>◦ </a:t>
            </a:r>
            <a:r>
              <a:rPr lang="en-US" sz="1500" dirty="0">
                <a:solidFill>
                  <a:srgbClr val="111111"/>
                </a:solidFill>
              </a:rPr>
              <a:t>в левом поддереве элементы меньше узла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41832" y="381304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7B8"/>
                </a:solidFill>
              </a:rPr>
              <a:t>◦ </a:t>
            </a:r>
            <a:r>
              <a:rPr lang="en-US" sz="1500" dirty="0">
                <a:solidFill>
                  <a:srgbClr val="111111"/>
                </a:solidFill>
              </a:rPr>
              <a:t>в правом поддереве элементы больше узла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1832" y="419709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7B8"/>
                </a:solidFill>
              </a:rPr>
              <a:t>◦ </a:t>
            </a:r>
            <a:r>
              <a:rPr lang="en-US" sz="1500" dirty="0">
                <a:solidFill>
                  <a:srgbClr val="111111"/>
                </a:solidFill>
              </a:rPr>
              <a:t>для каждого узла разница высот поддеревьев не больше 1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4736592"/>
            <a:ext cx="4846320" cy="502920"/>
          </a:xfrm>
          <a:prstGeom prst="roundRect">
            <a:avLst>
              <a:gd name="adj" fmla="val 9091"/>
            </a:avLst>
          </a:prstGeom>
          <a:solidFill>
            <a:srgbClr val="F5F9FF"/>
          </a:solidFill>
          <a:ln w="12700">
            <a:solidFill>
              <a:srgbClr val="BDD2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490118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5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 = height(left) - height(right)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" y="553212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57B8"/>
                </a:solidFill>
              </a:rPr>
              <a:t>• </a:t>
            </a:r>
            <a:r>
              <a:rPr lang="en-US" sz="1600" dirty="0">
                <a:solidFill>
                  <a:srgbClr val="111111"/>
                </a:solidFill>
              </a:rPr>
              <a:t>Если баланс становится больше 1 или меньше -1, выполняются повороты.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27653" y="2386950"/>
            <a:ext cx="0" cy="106299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927653" y="2386950"/>
            <a:ext cx="935431" cy="106299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992222" y="3449940"/>
            <a:ext cx="0" cy="102047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992222" y="3449940"/>
            <a:ext cx="467716" cy="102047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863084" y="3449940"/>
            <a:ext cx="0" cy="102047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63084" y="3449940"/>
            <a:ext cx="467716" cy="102047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689543" y="2148840"/>
            <a:ext cx="476220" cy="4762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9543" y="2216871"/>
            <a:ext cx="476220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81" dirty="0">
                <a:solidFill>
                  <a:srgbClr val="111111"/>
                </a:solidFill>
              </a:rPr>
              <a:t>30</a:t>
            </a:r>
            <a:endParaRPr lang="en-US" sz="1581" dirty="0"/>
          </a:p>
        </p:txBody>
      </p:sp>
      <p:sp>
        <p:nvSpPr>
          <p:cNvPr id="31" name="Shape 29"/>
          <p:cNvSpPr/>
          <p:nvPr/>
        </p:nvSpPr>
        <p:spPr>
          <a:xfrm>
            <a:off x="9055212" y="2420965"/>
            <a:ext cx="255118" cy="204094"/>
          </a:xfrm>
          <a:prstGeom prst="roundRect">
            <a:avLst>
              <a:gd name="adj" fmla="val 22401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72220" y="2437973"/>
            <a:ext cx="212598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11111"/>
                </a:solidFill>
              </a:rPr>
              <a:t>0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7754112" y="3211830"/>
            <a:ext cx="476220" cy="4762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4112" y="3279861"/>
            <a:ext cx="476220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81" dirty="0">
                <a:solidFill>
                  <a:srgbClr val="111111"/>
                </a:solidFill>
              </a:rPr>
              <a:t>20</a:t>
            </a:r>
            <a:endParaRPr lang="en-US" sz="1581" dirty="0"/>
          </a:p>
        </p:txBody>
      </p:sp>
      <p:sp>
        <p:nvSpPr>
          <p:cNvPr id="35" name="Shape 33"/>
          <p:cNvSpPr/>
          <p:nvPr/>
        </p:nvSpPr>
        <p:spPr>
          <a:xfrm>
            <a:off x="8119781" y="3483955"/>
            <a:ext cx="255118" cy="204094"/>
          </a:xfrm>
          <a:prstGeom prst="roundRect">
            <a:avLst>
              <a:gd name="adj" fmla="val 22401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36788" y="3500963"/>
            <a:ext cx="212598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11111"/>
                </a:solidFill>
              </a:rPr>
              <a:t>-1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9624974" y="3211830"/>
            <a:ext cx="476220" cy="4762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24974" y="3279861"/>
            <a:ext cx="476220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81" dirty="0">
                <a:solidFill>
                  <a:srgbClr val="111111"/>
                </a:solidFill>
              </a:rPr>
              <a:t>40</a:t>
            </a:r>
            <a:endParaRPr lang="en-US" sz="1581" dirty="0"/>
          </a:p>
        </p:txBody>
      </p:sp>
      <p:sp>
        <p:nvSpPr>
          <p:cNvPr id="39" name="Shape 37"/>
          <p:cNvSpPr/>
          <p:nvPr/>
        </p:nvSpPr>
        <p:spPr>
          <a:xfrm>
            <a:off x="9990643" y="3483955"/>
            <a:ext cx="255118" cy="204094"/>
          </a:xfrm>
          <a:prstGeom prst="roundRect">
            <a:avLst>
              <a:gd name="adj" fmla="val 22401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07651" y="3500963"/>
            <a:ext cx="212598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11111"/>
                </a:solidFill>
              </a:rPr>
              <a:t>1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7286396" y="4232300"/>
            <a:ext cx="476220" cy="4762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86396" y="4300332"/>
            <a:ext cx="476220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81" dirty="0">
                <a:solidFill>
                  <a:srgbClr val="111111"/>
                </a:solidFill>
              </a:rPr>
              <a:t>10</a:t>
            </a:r>
            <a:endParaRPr lang="en-US" sz="1581" dirty="0"/>
          </a:p>
        </p:txBody>
      </p:sp>
      <p:sp>
        <p:nvSpPr>
          <p:cNvPr id="43" name="Shape 41"/>
          <p:cNvSpPr/>
          <p:nvPr/>
        </p:nvSpPr>
        <p:spPr>
          <a:xfrm>
            <a:off x="7652065" y="4504426"/>
            <a:ext cx="255118" cy="204094"/>
          </a:xfrm>
          <a:prstGeom prst="roundRect">
            <a:avLst>
              <a:gd name="adj" fmla="val 22401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69073" y="4521434"/>
            <a:ext cx="212598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11111"/>
                </a:solidFill>
              </a:rPr>
              <a:t>0</a:t>
            </a:r>
            <a:endParaRPr lang="en-US" sz="930" dirty="0"/>
          </a:p>
        </p:txBody>
      </p:sp>
      <p:sp>
        <p:nvSpPr>
          <p:cNvPr id="45" name="Shape 43"/>
          <p:cNvSpPr/>
          <p:nvPr/>
        </p:nvSpPr>
        <p:spPr>
          <a:xfrm>
            <a:off x="8221828" y="4232300"/>
            <a:ext cx="476220" cy="4762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1828" y="4300332"/>
            <a:ext cx="476220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81" dirty="0">
                <a:solidFill>
                  <a:srgbClr val="111111"/>
                </a:solidFill>
              </a:rPr>
              <a:t>25</a:t>
            </a:r>
            <a:endParaRPr lang="en-US" sz="1581" dirty="0"/>
          </a:p>
        </p:txBody>
      </p:sp>
      <p:sp>
        <p:nvSpPr>
          <p:cNvPr id="47" name="Shape 45"/>
          <p:cNvSpPr/>
          <p:nvPr/>
        </p:nvSpPr>
        <p:spPr>
          <a:xfrm>
            <a:off x="8587496" y="4504426"/>
            <a:ext cx="255118" cy="204094"/>
          </a:xfrm>
          <a:prstGeom prst="roundRect">
            <a:avLst>
              <a:gd name="adj" fmla="val 22401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04504" y="4521434"/>
            <a:ext cx="212598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11111"/>
                </a:solidFill>
              </a:rPr>
              <a:t>0</a:t>
            </a:r>
            <a:endParaRPr lang="en-US" sz="930" dirty="0"/>
          </a:p>
        </p:txBody>
      </p:sp>
      <p:sp>
        <p:nvSpPr>
          <p:cNvPr id="49" name="Shape 47"/>
          <p:cNvSpPr/>
          <p:nvPr/>
        </p:nvSpPr>
        <p:spPr>
          <a:xfrm>
            <a:off x="9157259" y="4232300"/>
            <a:ext cx="476220" cy="4762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57259" y="4300332"/>
            <a:ext cx="476220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81" dirty="0">
                <a:solidFill>
                  <a:srgbClr val="111111"/>
                </a:solidFill>
              </a:rPr>
              <a:t>35</a:t>
            </a:r>
            <a:endParaRPr lang="en-US" sz="1581" dirty="0"/>
          </a:p>
        </p:txBody>
      </p:sp>
      <p:sp>
        <p:nvSpPr>
          <p:cNvPr id="51" name="Shape 49"/>
          <p:cNvSpPr/>
          <p:nvPr/>
        </p:nvSpPr>
        <p:spPr>
          <a:xfrm>
            <a:off x="9522927" y="4504426"/>
            <a:ext cx="255118" cy="204094"/>
          </a:xfrm>
          <a:prstGeom prst="roundRect">
            <a:avLst>
              <a:gd name="adj" fmla="val 22401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539935" y="4521434"/>
            <a:ext cx="212598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11111"/>
                </a:solidFill>
              </a:rPr>
              <a:t>0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10092690" y="4232300"/>
            <a:ext cx="476220" cy="4762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092690" y="4300332"/>
            <a:ext cx="476220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81" dirty="0">
                <a:solidFill>
                  <a:srgbClr val="111111"/>
                </a:solidFill>
              </a:rPr>
              <a:t>50</a:t>
            </a:r>
            <a:endParaRPr lang="en-US" sz="1581" dirty="0"/>
          </a:p>
        </p:txBody>
      </p:sp>
      <p:sp>
        <p:nvSpPr>
          <p:cNvPr id="55" name="Shape 53"/>
          <p:cNvSpPr/>
          <p:nvPr/>
        </p:nvSpPr>
        <p:spPr>
          <a:xfrm>
            <a:off x="10458359" y="4504426"/>
            <a:ext cx="255118" cy="204094"/>
          </a:xfrm>
          <a:prstGeom prst="roundRect">
            <a:avLst>
              <a:gd name="adj" fmla="val 22401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475366" y="4521434"/>
            <a:ext cx="212598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11111"/>
                </a:solidFill>
              </a:rPr>
              <a:t>0</a:t>
            </a:r>
            <a:endParaRPr lang="en-US" sz="930" dirty="0"/>
          </a:p>
        </p:txBody>
      </p:sp>
      <p:sp>
        <p:nvSpPr>
          <p:cNvPr id="57" name="Прямоугольник 56"/>
          <p:cNvSpPr/>
          <p:nvPr/>
        </p:nvSpPr>
        <p:spPr>
          <a:xfrm>
            <a:off x="0" y="9145"/>
            <a:ext cx="12192000" cy="111199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Прямоугольник 57"/>
          <p:cNvSpPr/>
          <p:nvPr/>
        </p:nvSpPr>
        <p:spPr>
          <a:xfrm>
            <a:off x="0" y="795"/>
            <a:ext cx="12192000" cy="111199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58952"/>
            <a:ext cx="1106424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70432" y="301752"/>
            <a:ext cx="0" cy="50292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310896"/>
            <a:ext cx="2743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Московский Государственный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Технический Университет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rot="10800000">
            <a:off x="10561320" y="0"/>
            <a:ext cx="475488" cy="1005840"/>
          </a:xfrm>
          <a:prstGeom prst="chevron">
            <a:avLst/>
          </a:prstGeom>
          <a:solidFill>
            <a:srgbClr val="DBE8F8">
              <a:alpha val="95000"/>
            </a:srgbClr>
          </a:solidFill>
          <a:ln w="12700">
            <a:solidFill>
              <a:srgbClr val="DBE8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0" y="0"/>
            <a:ext cx="1234440" cy="1005840"/>
          </a:xfrm>
          <a:prstGeom prst="parallelogram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03152" y="347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4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02920" y="6473952"/>
            <a:ext cx="397764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699248" y="6473952"/>
            <a:ext cx="388620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6441948"/>
            <a:ext cx="64008" cy="6400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48872" y="6441948"/>
            <a:ext cx="64008" cy="6400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6364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Алгоритмы и структуры данных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14173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Операция вставки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566928" y="2194560"/>
            <a:ext cx="1234440" cy="0"/>
          </a:xfrm>
          <a:prstGeom prst="line">
            <a:avLst/>
          </a:prstGeom>
          <a:noFill/>
          <a:ln w="50800">
            <a:solidFill>
              <a:srgbClr val="0057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423160"/>
            <a:ext cx="411480" cy="41148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57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50545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57B8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441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Новый элемент добавляется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как в обычное БДП.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" y="3246120"/>
            <a:ext cx="411480" cy="41148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57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3284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57B8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2644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При подъёме вверх пересчитывается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высота узлов.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4069080"/>
            <a:ext cx="411480" cy="41148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57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151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57B8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40873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Проверяется баланс каждого узла.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66928" y="4892040"/>
            <a:ext cx="411480" cy="41148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57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97433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57B8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49103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При необходимости выполняются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повороты.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892040" y="1325880"/>
            <a:ext cx="0" cy="4389120"/>
          </a:xfrm>
          <a:prstGeom prst="line">
            <a:avLst/>
          </a:prstGeom>
          <a:noFill/>
          <a:ln w="8890">
            <a:solidFill>
              <a:srgbClr val="A6A6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14173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C8C8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158191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</a:rPr>
              <a:t>LL — правый поворот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55130" y="2212848"/>
            <a:ext cx="0" cy="628650"/>
          </a:xfrm>
          <a:prstGeom prst="line">
            <a:avLst/>
          </a:prstGeom>
          <a:noFill/>
          <a:ln w="12700">
            <a:solidFill>
              <a:srgbClr val="0057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12230" y="2841498"/>
            <a:ext cx="0" cy="628650"/>
          </a:xfrm>
          <a:prstGeom prst="line">
            <a:avLst/>
          </a:prstGeom>
          <a:noFill/>
          <a:ln w="12700">
            <a:solidFill>
              <a:srgbClr val="0057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17970" y="198424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17970" y="202996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z</a:t>
            </a:r>
            <a:endParaRPr lang="en-US" sz="875" dirty="0"/>
          </a:p>
        </p:txBody>
      </p:sp>
      <p:sp>
        <p:nvSpPr>
          <p:cNvPr id="35" name="Shape 33"/>
          <p:cNvSpPr/>
          <p:nvPr/>
        </p:nvSpPr>
        <p:spPr>
          <a:xfrm>
            <a:off x="6275070" y="261289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5070" y="265861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y</a:t>
            </a:r>
            <a:endParaRPr lang="en-US" sz="875" dirty="0"/>
          </a:p>
        </p:txBody>
      </p:sp>
      <p:sp>
        <p:nvSpPr>
          <p:cNvPr id="37" name="Shape 35"/>
          <p:cNvSpPr/>
          <p:nvPr/>
        </p:nvSpPr>
        <p:spPr>
          <a:xfrm>
            <a:off x="5989320" y="324154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89320" y="328726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x</a:t>
            </a:r>
            <a:endParaRPr lang="en-US" sz="875" dirty="0"/>
          </a:p>
        </p:txBody>
      </p:sp>
      <p:sp>
        <p:nvSpPr>
          <p:cNvPr id="39" name="Text 37"/>
          <p:cNvSpPr/>
          <p:nvPr/>
        </p:nvSpPr>
        <p:spPr>
          <a:xfrm>
            <a:off x="6812280" y="22860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57B8"/>
                </a:solidFill>
              </a:rPr>
              <a:t>→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081010" y="2212848"/>
            <a:ext cx="0" cy="628650"/>
          </a:xfrm>
          <a:prstGeom prst="line">
            <a:avLst/>
          </a:prstGeom>
          <a:noFill/>
          <a:ln w="12700">
            <a:solidFill>
              <a:srgbClr val="0057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38110" y="2841498"/>
            <a:ext cx="0" cy="628650"/>
          </a:xfrm>
          <a:prstGeom prst="line">
            <a:avLst/>
          </a:prstGeom>
          <a:noFill/>
          <a:ln w="12700">
            <a:solidFill>
              <a:srgbClr val="0057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43850" y="198424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43850" y="202996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y</a:t>
            </a:r>
            <a:endParaRPr lang="en-US" sz="875" dirty="0"/>
          </a:p>
        </p:txBody>
      </p:sp>
      <p:sp>
        <p:nvSpPr>
          <p:cNvPr id="44" name="Shape 42"/>
          <p:cNvSpPr/>
          <p:nvPr/>
        </p:nvSpPr>
        <p:spPr>
          <a:xfrm>
            <a:off x="7600950" y="261289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00950" y="265861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x</a:t>
            </a:r>
            <a:endParaRPr lang="en-US" sz="875" dirty="0"/>
          </a:p>
        </p:txBody>
      </p:sp>
      <p:sp>
        <p:nvSpPr>
          <p:cNvPr id="46" name="Shape 44"/>
          <p:cNvSpPr/>
          <p:nvPr/>
        </p:nvSpPr>
        <p:spPr>
          <a:xfrm>
            <a:off x="7315200" y="324154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0" y="328726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z</a:t>
            </a:r>
            <a:endParaRPr lang="en-US" sz="875" dirty="0"/>
          </a:p>
        </p:txBody>
      </p:sp>
      <p:sp>
        <p:nvSpPr>
          <p:cNvPr id="48" name="Shape 46"/>
          <p:cNvSpPr/>
          <p:nvPr/>
        </p:nvSpPr>
        <p:spPr>
          <a:xfrm>
            <a:off x="8458200" y="14173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C8C8C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41080" y="158191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</a:rPr>
              <a:t>RR — левый поворот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726930" y="2212848"/>
            <a:ext cx="0" cy="628650"/>
          </a:xfrm>
          <a:prstGeom prst="line">
            <a:avLst/>
          </a:prstGeom>
          <a:noFill/>
          <a:ln w="12700">
            <a:solidFill>
              <a:srgbClr val="0057B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84030" y="2841498"/>
            <a:ext cx="0" cy="628650"/>
          </a:xfrm>
          <a:prstGeom prst="line">
            <a:avLst/>
          </a:prstGeom>
          <a:noFill/>
          <a:ln w="12700">
            <a:solidFill>
              <a:srgbClr val="0057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89770" y="198424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89770" y="202996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z</a:t>
            </a:r>
            <a:endParaRPr lang="en-US" sz="875" dirty="0"/>
          </a:p>
        </p:txBody>
      </p:sp>
      <p:sp>
        <p:nvSpPr>
          <p:cNvPr id="54" name="Shape 52"/>
          <p:cNvSpPr/>
          <p:nvPr/>
        </p:nvSpPr>
        <p:spPr>
          <a:xfrm>
            <a:off x="9246870" y="261289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46870" y="265861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y</a:t>
            </a:r>
            <a:endParaRPr lang="en-US" sz="875" dirty="0"/>
          </a:p>
        </p:txBody>
      </p:sp>
      <p:sp>
        <p:nvSpPr>
          <p:cNvPr id="56" name="Shape 54"/>
          <p:cNvSpPr/>
          <p:nvPr/>
        </p:nvSpPr>
        <p:spPr>
          <a:xfrm>
            <a:off x="8961120" y="324154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61120" y="328726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x</a:t>
            </a:r>
            <a:endParaRPr lang="en-US" sz="875" dirty="0"/>
          </a:p>
        </p:txBody>
      </p:sp>
      <p:sp>
        <p:nvSpPr>
          <p:cNvPr id="58" name="Text 56"/>
          <p:cNvSpPr/>
          <p:nvPr/>
        </p:nvSpPr>
        <p:spPr>
          <a:xfrm>
            <a:off x="9784080" y="22860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57B8"/>
                </a:solidFill>
              </a:rPr>
              <a:t>→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1052810" y="2212848"/>
            <a:ext cx="0" cy="628650"/>
          </a:xfrm>
          <a:prstGeom prst="line">
            <a:avLst/>
          </a:prstGeom>
          <a:noFill/>
          <a:ln w="12700">
            <a:solidFill>
              <a:srgbClr val="0057B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709910" y="2841498"/>
            <a:ext cx="0" cy="628650"/>
          </a:xfrm>
          <a:prstGeom prst="line">
            <a:avLst/>
          </a:prstGeom>
          <a:noFill/>
          <a:ln w="12700">
            <a:solidFill>
              <a:srgbClr val="0057B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915650" y="198424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915650" y="202996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y</a:t>
            </a:r>
            <a:endParaRPr lang="en-US" sz="875" dirty="0"/>
          </a:p>
        </p:txBody>
      </p:sp>
      <p:sp>
        <p:nvSpPr>
          <p:cNvPr id="63" name="Shape 61"/>
          <p:cNvSpPr/>
          <p:nvPr/>
        </p:nvSpPr>
        <p:spPr>
          <a:xfrm>
            <a:off x="10572750" y="261289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572750" y="265861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x</a:t>
            </a:r>
            <a:endParaRPr lang="en-US" sz="875" dirty="0"/>
          </a:p>
        </p:txBody>
      </p:sp>
      <p:sp>
        <p:nvSpPr>
          <p:cNvPr id="65" name="Shape 63"/>
          <p:cNvSpPr/>
          <p:nvPr/>
        </p:nvSpPr>
        <p:spPr>
          <a:xfrm>
            <a:off x="10287000" y="324154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287000" y="328726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z</a:t>
            </a:r>
            <a:endParaRPr lang="en-US" sz="875" dirty="0"/>
          </a:p>
        </p:txBody>
      </p:sp>
      <p:sp>
        <p:nvSpPr>
          <p:cNvPr id="67" name="Shape 65"/>
          <p:cNvSpPr/>
          <p:nvPr/>
        </p:nvSpPr>
        <p:spPr>
          <a:xfrm>
            <a:off x="5486400" y="33832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C8C8C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0" y="35478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</a:rPr>
              <a:t>LR — левый, затем правый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755130" y="4178808"/>
            <a:ext cx="0" cy="628650"/>
          </a:xfrm>
          <a:prstGeom prst="line">
            <a:avLst/>
          </a:prstGeom>
          <a:noFill/>
          <a:ln w="12700">
            <a:solidFill>
              <a:srgbClr val="0057B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12230" y="4807458"/>
            <a:ext cx="0" cy="628650"/>
          </a:xfrm>
          <a:prstGeom prst="line">
            <a:avLst/>
          </a:prstGeom>
          <a:noFill/>
          <a:ln w="12700">
            <a:solidFill>
              <a:srgbClr val="0057B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617970" y="395020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617970" y="399592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z</a:t>
            </a:r>
            <a:endParaRPr lang="en-US" sz="875" dirty="0"/>
          </a:p>
        </p:txBody>
      </p:sp>
      <p:sp>
        <p:nvSpPr>
          <p:cNvPr id="73" name="Shape 71"/>
          <p:cNvSpPr/>
          <p:nvPr/>
        </p:nvSpPr>
        <p:spPr>
          <a:xfrm>
            <a:off x="6275070" y="457885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75070" y="462457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y</a:t>
            </a:r>
            <a:endParaRPr lang="en-US" sz="875" dirty="0"/>
          </a:p>
        </p:txBody>
      </p:sp>
      <p:sp>
        <p:nvSpPr>
          <p:cNvPr id="75" name="Shape 73"/>
          <p:cNvSpPr/>
          <p:nvPr/>
        </p:nvSpPr>
        <p:spPr>
          <a:xfrm>
            <a:off x="5989320" y="520750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89320" y="525322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x</a:t>
            </a:r>
            <a:endParaRPr lang="en-US" sz="875" dirty="0"/>
          </a:p>
        </p:txBody>
      </p:sp>
      <p:sp>
        <p:nvSpPr>
          <p:cNvPr id="77" name="Text 75"/>
          <p:cNvSpPr/>
          <p:nvPr/>
        </p:nvSpPr>
        <p:spPr>
          <a:xfrm>
            <a:off x="6812280" y="42519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57B8"/>
                </a:solidFill>
              </a:rPr>
              <a:t>→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8081010" y="4178808"/>
            <a:ext cx="0" cy="628650"/>
          </a:xfrm>
          <a:prstGeom prst="line">
            <a:avLst/>
          </a:prstGeom>
          <a:noFill/>
          <a:ln w="12700">
            <a:solidFill>
              <a:srgbClr val="0057B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738110" y="4807458"/>
            <a:ext cx="0" cy="628650"/>
          </a:xfrm>
          <a:prstGeom prst="line">
            <a:avLst/>
          </a:prstGeom>
          <a:noFill/>
          <a:ln w="12700">
            <a:solidFill>
              <a:srgbClr val="0057B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943850" y="395020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943850" y="399592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y</a:t>
            </a:r>
            <a:endParaRPr lang="en-US" sz="875" dirty="0"/>
          </a:p>
        </p:txBody>
      </p:sp>
      <p:sp>
        <p:nvSpPr>
          <p:cNvPr id="82" name="Shape 80"/>
          <p:cNvSpPr/>
          <p:nvPr/>
        </p:nvSpPr>
        <p:spPr>
          <a:xfrm>
            <a:off x="7600950" y="457885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600950" y="462457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x</a:t>
            </a:r>
            <a:endParaRPr lang="en-US" sz="875" dirty="0"/>
          </a:p>
        </p:txBody>
      </p:sp>
      <p:sp>
        <p:nvSpPr>
          <p:cNvPr id="84" name="Shape 82"/>
          <p:cNvSpPr/>
          <p:nvPr/>
        </p:nvSpPr>
        <p:spPr>
          <a:xfrm>
            <a:off x="7315200" y="520750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315200" y="525322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z</a:t>
            </a:r>
            <a:endParaRPr lang="en-US" sz="875" dirty="0"/>
          </a:p>
        </p:txBody>
      </p:sp>
      <p:sp>
        <p:nvSpPr>
          <p:cNvPr id="86" name="Shape 84"/>
          <p:cNvSpPr/>
          <p:nvPr/>
        </p:nvSpPr>
        <p:spPr>
          <a:xfrm>
            <a:off x="8458200" y="33832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C8C8C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641080" y="35478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</a:rPr>
              <a:t>RL — правый, затем левый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9726930" y="4178808"/>
            <a:ext cx="0" cy="628650"/>
          </a:xfrm>
          <a:prstGeom prst="line">
            <a:avLst/>
          </a:prstGeom>
          <a:noFill/>
          <a:ln w="12700">
            <a:solidFill>
              <a:srgbClr val="0057B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384030" y="4807458"/>
            <a:ext cx="0" cy="628650"/>
          </a:xfrm>
          <a:prstGeom prst="line">
            <a:avLst/>
          </a:prstGeom>
          <a:noFill/>
          <a:ln w="12700">
            <a:solidFill>
              <a:srgbClr val="0057B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589770" y="395020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589770" y="399592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z</a:t>
            </a:r>
            <a:endParaRPr lang="en-US" sz="875" dirty="0"/>
          </a:p>
        </p:txBody>
      </p:sp>
      <p:sp>
        <p:nvSpPr>
          <p:cNvPr id="92" name="Shape 90"/>
          <p:cNvSpPr/>
          <p:nvPr/>
        </p:nvSpPr>
        <p:spPr>
          <a:xfrm>
            <a:off x="9246870" y="457885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246870" y="462457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y</a:t>
            </a:r>
            <a:endParaRPr lang="en-US" sz="875" dirty="0"/>
          </a:p>
        </p:txBody>
      </p:sp>
      <p:sp>
        <p:nvSpPr>
          <p:cNvPr id="94" name="Shape 92"/>
          <p:cNvSpPr/>
          <p:nvPr/>
        </p:nvSpPr>
        <p:spPr>
          <a:xfrm>
            <a:off x="8961120" y="520750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961120" y="525322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x</a:t>
            </a:r>
            <a:endParaRPr lang="en-US" sz="875" dirty="0"/>
          </a:p>
        </p:txBody>
      </p:sp>
      <p:sp>
        <p:nvSpPr>
          <p:cNvPr id="96" name="Text 94"/>
          <p:cNvSpPr/>
          <p:nvPr/>
        </p:nvSpPr>
        <p:spPr>
          <a:xfrm>
            <a:off x="9784080" y="42519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57B8"/>
                </a:solidFill>
              </a:rPr>
              <a:t>→</a:t>
            </a:r>
            <a:endParaRPr lang="en-US" sz="1800" dirty="0"/>
          </a:p>
        </p:txBody>
      </p:sp>
      <p:sp>
        <p:nvSpPr>
          <p:cNvPr id="97" name="Shape 95"/>
          <p:cNvSpPr/>
          <p:nvPr/>
        </p:nvSpPr>
        <p:spPr>
          <a:xfrm>
            <a:off x="11052810" y="4178808"/>
            <a:ext cx="0" cy="628650"/>
          </a:xfrm>
          <a:prstGeom prst="line">
            <a:avLst/>
          </a:prstGeom>
          <a:noFill/>
          <a:ln w="12700">
            <a:solidFill>
              <a:srgbClr val="0057B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709910" y="4807458"/>
            <a:ext cx="0" cy="628650"/>
          </a:xfrm>
          <a:prstGeom prst="line">
            <a:avLst/>
          </a:prstGeom>
          <a:noFill/>
          <a:ln w="12700">
            <a:solidFill>
              <a:srgbClr val="0057B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915650" y="395020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915650" y="399592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y</a:t>
            </a:r>
            <a:endParaRPr lang="en-US" sz="875" dirty="0"/>
          </a:p>
        </p:txBody>
      </p:sp>
      <p:sp>
        <p:nvSpPr>
          <p:cNvPr id="101" name="Shape 99"/>
          <p:cNvSpPr/>
          <p:nvPr/>
        </p:nvSpPr>
        <p:spPr>
          <a:xfrm>
            <a:off x="10572750" y="457885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572750" y="462457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x</a:t>
            </a:r>
            <a:endParaRPr lang="en-US" sz="875" dirty="0"/>
          </a:p>
        </p:txBody>
      </p:sp>
      <p:sp>
        <p:nvSpPr>
          <p:cNvPr id="103" name="Shape 101"/>
          <p:cNvSpPr/>
          <p:nvPr/>
        </p:nvSpPr>
        <p:spPr>
          <a:xfrm>
            <a:off x="10287000" y="520750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0287000" y="5253228"/>
            <a:ext cx="320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dirty="0">
                <a:solidFill>
                  <a:srgbClr val="000000"/>
                </a:solidFill>
              </a:rPr>
              <a:t>z</a:t>
            </a:r>
            <a:endParaRPr lang="en-US" sz="875" dirty="0"/>
          </a:p>
        </p:txBody>
      </p:sp>
      <p:sp>
        <p:nvSpPr>
          <p:cNvPr id="105" name="Shape 103"/>
          <p:cNvSpPr/>
          <p:nvPr/>
        </p:nvSpPr>
        <p:spPr>
          <a:xfrm>
            <a:off x="566928" y="5760720"/>
            <a:ext cx="10972800" cy="502920"/>
          </a:xfrm>
          <a:prstGeom prst="roundRect">
            <a:avLst>
              <a:gd name="adj" fmla="val 21818"/>
            </a:avLst>
          </a:prstGeom>
          <a:solidFill>
            <a:srgbClr val="EAF2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31520" y="5888736"/>
            <a:ext cx="384048" cy="3840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95528" y="592531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57B8"/>
                </a:solidFill>
              </a:rPr>
              <a:t>i</a:t>
            </a:r>
            <a:endParaRPr lang="en-US" sz="1700" dirty="0"/>
          </a:p>
        </p:txBody>
      </p:sp>
      <p:sp>
        <p:nvSpPr>
          <p:cNvPr id="108" name="Text 106"/>
          <p:cNvSpPr/>
          <p:nvPr/>
        </p:nvSpPr>
        <p:spPr>
          <a:xfrm>
            <a:off x="1252728" y="5897880"/>
            <a:ext cx="10149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57B8"/>
                </a:solidFill>
              </a:rPr>
              <a:t>После поворотов дерево снова становится сбалансированным.</a:t>
            </a:r>
            <a:endParaRPr lang="en-US" sz="1700" dirty="0"/>
          </a:p>
        </p:txBody>
      </p:sp>
      <p:sp>
        <p:nvSpPr>
          <p:cNvPr id="109" name="Прямоугольник 108"/>
          <p:cNvSpPr/>
          <p:nvPr/>
        </p:nvSpPr>
        <p:spPr>
          <a:xfrm>
            <a:off x="0" y="9145"/>
            <a:ext cx="12192000" cy="111199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58952"/>
            <a:ext cx="1106424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70432" y="301752"/>
            <a:ext cx="0" cy="50292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310896"/>
            <a:ext cx="2743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Московский Государственный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Технический Университет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rot="10800000">
            <a:off x="10561320" y="0"/>
            <a:ext cx="475488" cy="1005840"/>
          </a:xfrm>
          <a:prstGeom prst="chevron">
            <a:avLst/>
          </a:prstGeom>
          <a:solidFill>
            <a:srgbClr val="DBE8F8">
              <a:alpha val="95000"/>
            </a:srgbClr>
          </a:solidFill>
          <a:ln w="12700">
            <a:solidFill>
              <a:srgbClr val="DBE8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0" y="0"/>
            <a:ext cx="1234440" cy="1005840"/>
          </a:xfrm>
          <a:prstGeom prst="parallelogram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03152" y="347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5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02920" y="6473952"/>
            <a:ext cx="397764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699248" y="6473952"/>
            <a:ext cx="388620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6441948"/>
            <a:ext cx="64008" cy="6400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48872" y="6441948"/>
            <a:ext cx="64008" cy="6400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6364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Алгоритмы и структуры данных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16916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Операция поиска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566928" y="2468880"/>
            <a:ext cx="1234440" cy="0"/>
          </a:xfrm>
          <a:prstGeom prst="line">
            <a:avLst/>
          </a:prstGeom>
          <a:noFill/>
          <a:ln w="50800">
            <a:solidFill>
              <a:srgbClr val="0057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803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057B8"/>
                </a:solidFill>
              </a:rPr>
              <a:t>• </a:t>
            </a:r>
            <a:r>
              <a:rPr lang="en-US" sz="1900" dirty="0">
                <a:solidFill>
                  <a:srgbClr val="111111"/>
                </a:solidFill>
              </a:rPr>
              <a:t>Поиск работает так же, как в бинарном дереве поиска.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" y="36576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57B8"/>
                </a:solidFill>
              </a:rPr>
              <a:t>◦ </a:t>
            </a:r>
            <a:r>
              <a:rPr lang="en-US" sz="1600" dirty="0">
                <a:solidFill>
                  <a:srgbClr val="111111"/>
                </a:solidFill>
              </a:rPr>
              <a:t>если значение равно текущему узлу — элемент найден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069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57B8"/>
                </a:solidFill>
              </a:rPr>
              <a:t>◦ </a:t>
            </a:r>
            <a:r>
              <a:rPr lang="en-US" sz="1600" dirty="0">
                <a:solidFill>
                  <a:srgbClr val="111111"/>
                </a:solidFill>
              </a:rPr>
              <a:t>если значение меньше — идём влево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4805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57B8"/>
                </a:solidFill>
              </a:rPr>
              <a:t>◦ </a:t>
            </a:r>
            <a:r>
              <a:rPr lang="en-US" sz="1600" dirty="0">
                <a:solidFill>
                  <a:srgbClr val="111111"/>
                </a:solidFill>
              </a:rPr>
              <a:t>если значение больше — идём вправо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6928" y="5394960"/>
            <a:ext cx="5760720" cy="658368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5522976"/>
            <a:ext cx="384048" cy="3840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555955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57B8"/>
                </a:solidFill>
              </a:rPr>
              <a:t>★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52728" y="5532120"/>
            <a:ext cx="49377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57B8"/>
                </a:solidFill>
              </a:rPr>
              <a:t>Благодаря балансировке путь поиска короткий.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20840" y="1600200"/>
            <a:ext cx="0" cy="4389120"/>
          </a:xfrm>
          <a:prstGeom prst="line">
            <a:avLst/>
          </a:prstGeom>
          <a:noFill/>
          <a:ln w="8890">
            <a:solidFill>
              <a:srgbClr val="A6A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</a:rPr>
              <a:t>Пример: поиск значения 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81160" y="1783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7B8"/>
                </a:solidFill>
              </a:rPr>
              <a:t>35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9093159" y="2465588"/>
            <a:ext cx="0" cy="100584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93159" y="2465588"/>
            <a:ext cx="885139" cy="1005840"/>
          </a:xfrm>
          <a:prstGeom prst="line">
            <a:avLst/>
          </a:prstGeom>
          <a:noFill/>
          <a:ln w="3810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208020" y="3471428"/>
            <a:ext cx="0" cy="965606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208020" y="3471428"/>
            <a:ext cx="442570" cy="965606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978299" y="3471428"/>
            <a:ext cx="0" cy="965606"/>
          </a:xfrm>
          <a:prstGeom prst="line">
            <a:avLst/>
          </a:prstGeom>
          <a:noFill/>
          <a:ln w="3810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978299" y="3471428"/>
            <a:ext cx="442570" cy="965606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867851" y="2240280"/>
            <a:ext cx="450616" cy="45061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7851" y="2304654"/>
            <a:ext cx="450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rgbClr val="111111"/>
                </a:solidFill>
              </a:rPr>
              <a:t>30</a:t>
            </a:r>
            <a:endParaRPr lang="en-US" sz="1496" dirty="0"/>
          </a:p>
        </p:txBody>
      </p:sp>
      <p:sp>
        <p:nvSpPr>
          <p:cNvPr id="35" name="Shape 33"/>
          <p:cNvSpPr/>
          <p:nvPr/>
        </p:nvSpPr>
        <p:spPr>
          <a:xfrm>
            <a:off x="9213860" y="2497775"/>
            <a:ext cx="241402" cy="193121"/>
          </a:xfrm>
          <a:prstGeom prst="roundRect">
            <a:avLst>
              <a:gd name="adj" fmla="val 23674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29954" y="2513868"/>
            <a:ext cx="201168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11111"/>
                </a:solidFill>
              </a:rPr>
              <a:t>0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7982712" y="3246120"/>
            <a:ext cx="450616" cy="45061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82712" y="3310494"/>
            <a:ext cx="450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rgbClr val="111111"/>
                </a:solidFill>
              </a:rPr>
              <a:t>20</a:t>
            </a:r>
            <a:endParaRPr lang="en-US" sz="1496" dirty="0"/>
          </a:p>
        </p:txBody>
      </p:sp>
      <p:sp>
        <p:nvSpPr>
          <p:cNvPr id="39" name="Shape 37"/>
          <p:cNvSpPr/>
          <p:nvPr/>
        </p:nvSpPr>
        <p:spPr>
          <a:xfrm>
            <a:off x="8328721" y="3503615"/>
            <a:ext cx="241402" cy="193121"/>
          </a:xfrm>
          <a:prstGeom prst="roundRect">
            <a:avLst>
              <a:gd name="adj" fmla="val 23674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44814" y="3519708"/>
            <a:ext cx="201168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11111"/>
                </a:solidFill>
              </a:rPr>
              <a:t>-1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9752990" y="3246120"/>
            <a:ext cx="450616" cy="45061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52990" y="3310494"/>
            <a:ext cx="450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rgbClr val="111111"/>
                </a:solidFill>
              </a:rPr>
              <a:t>40</a:t>
            </a:r>
            <a:endParaRPr lang="en-US" sz="1496" dirty="0"/>
          </a:p>
        </p:txBody>
      </p:sp>
      <p:sp>
        <p:nvSpPr>
          <p:cNvPr id="43" name="Shape 41"/>
          <p:cNvSpPr/>
          <p:nvPr/>
        </p:nvSpPr>
        <p:spPr>
          <a:xfrm>
            <a:off x="10098999" y="3503615"/>
            <a:ext cx="241402" cy="193121"/>
          </a:xfrm>
          <a:prstGeom prst="roundRect">
            <a:avLst>
              <a:gd name="adj" fmla="val 23674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15093" y="3519708"/>
            <a:ext cx="201168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11111"/>
                </a:solidFill>
              </a:rPr>
              <a:t>1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7540142" y="4211726"/>
            <a:ext cx="450616" cy="45061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40142" y="4276100"/>
            <a:ext cx="450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rgbClr val="111111"/>
                </a:solidFill>
              </a:rPr>
              <a:t>10</a:t>
            </a:r>
            <a:endParaRPr lang="en-US" sz="1496" dirty="0"/>
          </a:p>
        </p:txBody>
      </p:sp>
      <p:sp>
        <p:nvSpPr>
          <p:cNvPr id="47" name="Shape 45"/>
          <p:cNvSpPr/>
          <p:nvPr/>
        </p:nvSpPr>
        <p:spPr>
          <a:xfrm>
            <a:off x="7886151" y="4469221"/>
            <a:ext cx="241402" cy="193121"/>
          </a:xfrm>
          <a:prstGeom prst="roundRect">
            <a:avLst>
              <a:gd name="adj" fmla="val 23674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02245" y="4485315"/>
            <a:ext cx="201168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11111"/>
                </a:solidFill>
              </a:rPr>
              <a:t>0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8425282" y="4211726"/>
            <a:ext cx="450616" cy="45061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25282" y="4276100"/>
            <a:ext cx="450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rgbClr val="111111"/>
                </a:solidFill>
              </a:rPr>
              <a:t>25</a:t>
            </a:r>
            <a:endParaRPr lang="en-US" sz="1496" dirty="0"/>
          </a:p>
        </p:txBody>
      </p:sp>
      <p:sp>
        <p:nvSpPr>
          <p:cNvPr id="51" name="Shape 49"/>
          <p:cNvSpPr/>
          <p:nvPr/>
        </p:nvSpPr>
        <p:spPr>
          <a:xfrm>
            <a:off x="8771291" y="4469221"/>
            <a:ext cx="241402" cy="193121"/>
          </a:xfrm>
          <a:prstGeom prst="roundRect">
            <a:avLst>
              <a:gd name="adj" fmla="val 23674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787384" y="4485315"/>
            <a:ext cx="201168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11111"/>
                </a:solidFill>
              </a:rPr>
              <a:t>0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9310421" y="4211726"/>
            <a:ext cx="450616" cy="450616"/>
          </a:xfrm>
          <a:prstGeom prst="ellipse">
            <a:avLst/>
          </a:prstGeom>
          <a:solidFill>
            <a:srgbClr val="EAF2FF"/>
          </a:solidFill>
          <a:ln w="27940">
            <a:solidFill>
              <a:srgbClr val="0057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10421" y="4276100"/>
            <a:ext cx="450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b="1" dirty="0">
                <a:solidFill>
                  <a:srgbClr val="0057B8"/>
                </a:solidFill>
              </a:rPr>
              <a:t>35</a:t>
            </a:r>
            <a:endParaRPr lang="en-US" sz="1496" dirty="0"/>
          </a:p>
        </p:txBody>
      </p:sp>
      <p:sp>
        <p:nvSpPr>
          <p:cNvPr id="55" name="Shape 53"/>
          <p:cNvSpPr/>
          <p:nvPr/>
        </p:nvSpPr>
        <p:spPr>
          <a:xfrm>
            <a:off x="9656430" y="4469221"/>
            <a:ext cx="241402" cy="193121"/>
          </a:xfrm>
          <a:prstGeom prst="roundRect">
            <a:avLst>
              <a:gd name="adj" fmla="val 23674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72523" y="4485315"/>
            <a:ext cx="201168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11111"/>
                </a:solidFill>
              </a:rPr>
              <a:t>0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10195560" y="4211726"/>
            <a:ext cx="450616" cy="45061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195560" y="4276100"/>
            <a:ext cx="450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rgbClr val="111111"/>
                </a:solidFill>
              </a:rPr>
              <a:t>50</a:t>
            </a:r>
            <a:endParaRPr lang="en-US" sz="1496" dirty="0"/>
          </a:p>
        </p:txBody>
      </p:sp>
      <p:sp>
        <p:nvSpPr>
          <p:cNvPr id="59" name="Shape 57"/>
          <p:cNvSpPr/>
          <p:nvPr/>
        </p:nvSpPr>
        <p:spPr>
          <a:xfrm>
            <a:off x="10541569" y="4469221"/>
            <a:ext cx="241402" cy="193121"/>
          </a:xfrm>
          <a:prstGeom prst="roundRect">
            <a:avLst>
              <a:gd name="adj" fmla="val 23674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557662" y="4485315"/>
            <a:ext cx="201168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11111"/>
                </a:solidFill>
              </a:rPr>
              <a:t>0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7178040" y="5532120"/>
            <a:ext cx="438912" cy="43891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33488" y="5605272"/>
            <a:ext cx="109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7B8"/>
                </a:solidFill>
              </a:rPr>
              <a:t>i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818120" y="5577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Поиск идёт не по всем элементам,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а только по высоте дерева.</a:t>
            </a:r>
            <a:endParaRPr lang="en-US" sz="1300" dirty="0"/>
          </a:p>
        </p:txBody>
      </p:sp>
      <p:sp>
        <p:nvSpPr>
          <p:cNvPr id="64" name="Прямоугольник 63"/>
          <p:cNvSpPr/>
          <p:nvPr/>
        </p:nvSpPr>
        <p:spPr>
          <a:xfrm>
            <a:off x="0" y="9145"/>
            <a:ext cx="12192000" cy="111199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58952"/>
            <a:ext cx="1106424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70432" y="301752"/>
            <a:ext cx="0" cy="50292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310896"/>
            <a:ext cx="2743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Московский Государственный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Технический Университет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rot="10800000">
            <a:off x="10561320" y="0"/>
            <a:ext cx="475488" cy="1005840"/>
          </a:xfrm>
          <a:prstGeom prst="chevron">
            <a:avLst/>
          </a:prstGeom>
          <a:solidFill>
            <a:srgbClr val="DBE8F8">
              <a:alpha val="95000"/>
            </a:srgbClr>
          </a:solidFill>
          <a:ln w="12700">
            <a:solidFill>
              <a:srgbClr val="DBE8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0" y="0"/>
            <a:ext cx="1234440" cy="1005840"/>
          </a:xfrm>
          <a:prstGeom prst="parallelogram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03152" y="347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6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02920" y="6473952"/>
            <a:ext cx="397764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699248" y="6473952"/>
            <a:ext cx="388620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6441948"/>
            <a:ext cx="64008" cy="6400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48872" y="6441948"/>
            <a:ext cx="64008" cy="6400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6364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Алгоритмы и структуры данных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14173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Операция удаления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566928" y="2194560"/>
            <a:ext cx="1234440" cy="0"/>
          </a:xfrm>
          <a:prstGeom prst="line">
            <a:avLst/>
          </a:prstGeom>
          <a:noFill/>
          <a:ln w="50800">
            <a:solidFill>
              <a:srgbClr val="0057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2402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Удаление похоже на удаление в обычном бинарном дереве поиска,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но после него дерево нужно перебалансировать.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2834640"/>
            <a:ext cx="3108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8BB4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2971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57B8"/>
                </a:solidFill>
              </a:rPr>
              <a:t>1. Нет потомков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" y="33375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Удаляем узел и просто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убираем его из дерева.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86200" y="2834640"/>
            <a:ext cx="3108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8BB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2971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57B8"/>
                </a:solidFill>
              </a:rPr>
              <a:t>2. Один потомок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023360" y="33375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Удаляем узел и заменяем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его единственным потомком.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23760" y="283464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8BB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29718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57B8"/>
                </a:solidFill>
              </a:rPr>
              <a:t>3. Два потомка — замена минимальным элементом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60920" y="33375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Берём минимальный элемент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из правого поддерева.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590324" y="3973251"/>
            <a:ext cx="0" cy="38862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590324" y="3973251"/>
            <a:ext cx="341986" cy="388620"/>
          </a:xfrm>
          <a:prstGeom prst="line">
            <a:avLst/>
          </a:prstGeom>
          <a:noFill/>
          <a:ln w="3810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248339" y="4361871"/>
            <a:ext cx="0" cy="373075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248339" y="4361871"/>
            <a:ext cx="170993" cy="373075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932310" y="4361871"/>
            <a:ext cx="0" cy="373075"/>
          </a:xfrm>
          <a:prstGeom prst="line">
            <a:avLst/>
          </a:prstGeom>
          <a:noFill/>
          <a:ln w="3810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932310" y="4361871"/>
            <a:ext cx="170993" cy="373075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503274" y="3886200"/>
            <a:ext cx="174102" cy="17410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03274" y="3911072"/>
            <a:ext cx="17410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8" dirty="0">
                <a:solidFill>
                  <a:srgbClr val="111111"/>
                </a:solidFill>
              </a:rPr>
              <a:t>30</a:t>
            </a:r>
            <a:endParaRPr lang="en-US" sz="578" dirty="0"/>
          </a:p>
        </p:txBody>
      </p:sp>
      <p:sp>
        <p:nvSpPr>
          <p:cNvPr id="34" name="Shape 32"/>
          <p:cNvSpPr/>
          <p:nvPr/>
        </p:nvSpPr>
        <p:spPr>
          <a:xfrm>
            <a:off x="1636959" y="3985687"/>
            <a:ext cx="93269" cy="74615"/>
          </a:xfrm>
          <a:prstGeom prst="roundRect">
            <a:avLst>
              <a:gd name="adj" fmla="val 6127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43177" y="3991905"/>
            <a:ext cx="77724" cy="5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" dirty="0">
                <a:solidFill>
                  <a:srgbClr val="111111"/>
                </a:solidFill>
              </a:rPr>
              <a:t>0</a:t>
            </a:r>
            <a:endParaRPr lang="en-US" sz="340" dirty="0"/>
          </a:p>
        </p:txBody>
      </p:sp>
      <p:sp>
        <p:nvSpPr>
          <p:cNvPr id="36" name="Shape 34"/>
          <p:cNvSpPr/>
          <p:nvPr/>
        </p:nvSpPr>
        <p:spPr>
          <a:xfrm>
            <a:off x="1161288" y="4274820"/>
            <a:ext cx="174102" cy="17410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61288" y="4299692"/>
            <a:ext cx="17410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8" dirty="0">
                <a:solidFill>
                  <a:srgbClr val="111111"/>
                </a:solidFill>
              </a:rPr>
              <a:t>20</a:t>
            </a:r>
            <a:endParaRPr lang="en-US" sz="578" dirty="0"/>
          </a:p>
        </p:txBody>
      </p:sp>
      <p:sp>
        <p:nvSpPr>
          <p:cNvPr id="38" name="Shape 36"/>
          <p:cNvSpPr/>
          <p:nvPr/>
        </p:nvSpPr>
        <p:spPr>
          <a:xfrm>
            <a:off x="1294973" y="4374307"/>
            <a:ext cx="93269" cy="74615"/>
          </a:xfrm>
          <a:prstGeom prst="roundRect">
            <a:avLst>
              <a:gd name="adj" fmla="val 6127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01191" y="4380525"/>
            <a:ext cx="77724" cy="5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" dirty="0">
                <a:solidFill>
                  <a:srgbClr val="111111"/>
                </a:solidFill>
              </a:rPr>
              <a:t>-1</a:t>
            </a:r>
            <a:endParaRPr lang="en-US" sz="340" dirty="0"/>
          </a:p>
        </p:txBody>
      </p:sp>
      <p:sp>
        <p:nvSpPr>
          <p:cNvPr id="40" name="Shape 38"/>
          <p:cNvSpPr/>
          <p:nvPr/>
        </p:nvSpPr>
        <p:spPr>
          <a:xfrm>
            <a:off x="1845259" y="4274820"/>
            <a:ext cx="174102" cy="17410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45259" y="4299692"/>
            <a:ext cx="17410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8" dirty="0">
                <a:solidFill>
                  <a:srgbClr val="111111"/>
                </a:solidFill>
              </a:rPr>
              <a:t>40</a:t>
            </a:r>
            <a:endParaRPr lang="en-US" sz="578" dirty="0"/>
          </a:p>
        </p:txBody>
      </p:sp>
      <p:sp>
        <p:nvSpPr>
          <p:cNvPr id="42" name="Shape 40"/>
          <p:cNvSpPr/>
          <p:nvPr/>
        </p:nvSpPr>
        <p:spPr>
          <a:xfrm>
            <a:off x="1978944" y="4374307"/>
            <a:ext cx="93269" cy="74615"/>
          </a:xfrm>
          <a:prstGeom prst="roundRect">
            <a:avLst>
              <a:gd name="adj" fmla="val 6127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85162" y="4380525"/>
            <a:ext cx="77724" cy="5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" dirty="0">
                <a:solidFill>
                  <a:srgbClr val="111111"/>
                </a:solidFill>
              </a:rPr>
              <a:t>1</a:t>
            </a:r>
            <a:endParaRPr lang="en-US" sz="340" dirty="0"/>
          </a:p>
        </p:txBody>
      </p:sp>
      <p:sp>
        <p:nvSpPr>
          <p:cNvPr id="44" name="Shape 42"/>
          <p:cNvSpPr/>
          <p:nvPr/>
        </p:nvSpPr>
        <p:spPr>
          <a:xfrm>
            <a:off x="990295" y="4647895"/>
            <a:ext cx="174102" cy="174102"/>
          </a:xfrm>
          <a:prstGeom prst="ellipse">
            <a:avLst/>
          </a:prstGeom>
          <a:solidFill>
            <a:srgbClr val="EAF2FF"/>
          </a:solidFill>
          <a:ln w="27940">
            <a:solidFill>
              <a:srgbClr val="0057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90295" y="4672767"/>
            <a:ext cx="17410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8" b="1" dirty="0">
                <a:solidFill>
                  <a:srgbClr val="0057B8"/>
                </a:solidFill>
              </a:rPr>
              <a:t>10</a:t>
            </a:r>
            <a:endParaRPr lang="en-US" sz="578" dirty="0"/>
          </a:p>
        </p:txBody>
      </p:sp>
      <p:sp>
        <p:nvSpPr>
          <p:cNvPr id="46" name="Shape 44"/>
          <p:cNvSpPr/>
          <p:nvPr/>
        </p:nvSpPr>
        <p:spPr>
          <a:xfrm>
            <a:off x="1123980" y="4747382"/>
            <a:ext cx="93269" cy="74615"/>
          </a:xfrm>
          <a:prstGeom prst="roundRect">
            <a:avLst>
              <a:gd name="adj" fmla="val 6127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30198" y="4753600"/>
            <a:ext cx="77724" cy="5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" dirty="0">
                <a:solidFill>
                  <a:srgbClr val="111111"/>
                </a:solidFill>
              </a:rPr>
              <a:t>0</a:t>
            </a:r>
            <a:endParaRPr lang="en-US" sz="340" dirty="0"/>
          </a:p>
        </p:txBody>
      </p:sp>
      <p:sp>
        <p:nvSpPr>
          <p:cNvPr id="48" name="Shape 46"/>
          <p:cNvSpPr/>
          <p:nvPr/>
        </p:nvSpPr>
        <p:spPr>
          <a:xfrm>
            <a:off x="1332281" y="4647895"/>
            <a:ext cx="174102" cy="17410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32281" y="4672767"/>
            <a:ext cx="17410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8" dirty="0">
                <a:solidFill>
                  <a:srgbClr val="111111"/>
                </a:solidFill>
              </a:rPr>
              <a:t>25</a:t>
            </a:r>
            <a:endParaRPr lang="en-US" sz="578" dirty="0"/>
          </a:p>
        </p:txBody>
      </p:sp>
      <p:sp>
        <p:nvSpPr>
          <p:cNvPr id="50" name="Shape 48"/>
          <p:cNvSpPr/>
          <p:nvPr/>
        </p:nvSpPr>
        <p:spPr>
          <a:xfrm>
            <a:off x="1465966" y="4747382"/>
            <a:ext cx="93269" cy="74615"/>
          </a:xfrm>
          <a:prstGeom prst="roundRect">
            <a:avLst>
              <a:gd name="adj" fmla="val 6127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472184" y="4753600"/>
            <a:ext cx="77724" cy="5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" dirty="0">
                <a:solidFill>
                  <a:srgbClr val="111111"/>
                </a:solidFill>
              </a:rPr>
              <a:t>0</a:t>
            </a:r>
            <a:endParaRPr lang="en-US" sz="340" dirty="0"/>
          </a:p>
        </p:txBody>
      </p:sp>
      <p:sp>
        <p:nvSpPr>
          <p:cNvPr id="52" name="Shape 50"/>
          <p:cNvSpPr/>
          <p:nvPr/>
        </p:nvSpPr>
        <p:spPr>
          <a:xfrm>
            <a:off x="1674266" y="4647895"/>
            <a:ext cx="174102" cy="17410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74266" y="4672767"/>
            <a:ext cx="17410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8" dirty="0">
                <a:solidFill>
                  <a:srgbClr val="111111"/>
                </a:solidFill>
              </a:rPr>
              <a:t>35</a:t>
            </a:r>
            <a:endParaRPr lang="en-US" sz="578" dirty="0"/>
          </a:p>
        </p:txBody>
      </p:sp>
      <p:sp>
        <p:nvSpPr>
          <p:cNvPr id="54" name="Shape 52"/>
          <p:cNvSpPr/>
          <p:nvPr/>
        </p:nvSpPr>
        <p:spPr>
          <a:xfrm>
            <a:off x="1807952" y="4747382"/>
            <a:ext cx="93269" cy="74615"/>
          </a:xfrm>
          <a:prstGeom prst="roundRect">
            <a:avLst>
              <a:gd name="adj" fmla="val 6127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14170" y="4753600"/>
            <a:ext cx="77724" cy="5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" dirty="0">
                <a:solidFill>
                  <a:srgbClr val="111111"/>
                </a:solidFill>
              </a:rPr>
              <a:t>0</a:t>
            </a:r>
            <a:endParaRPr lang="en-US" sz="340" dirty="0"/>
          </a:p>
        </p:txBody>
      </p:sp>
      <p:sp>
        <p:nvSpPr>
          <p:cNvPr id="56" name="Shape 54"/>
          <p:cNvSpPr/>
          <p:nvPr/>
        </p:nvSpPr>
        <p:spPr>
          <a:xfrm>
            <a:off x="2016252" y="4647895"/>
            <a:ext cx="174102" cy="17410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16252" y="4672767"/>
            <a:ext cx="17410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8" dirty="0">
                <a:solidFill>
                  <a:srgbClr val="111111"/>
                </a:solidFill>
              </a:rPr>
              <a:t>50</a:t>
            </a:r>
            <a:endParaRPr lang="en-US" sz="578" dirty="0"/>
          </a:p>
        </p:txBody>
      </p:sp>
      <p:sp>
        <p:nvSpPr>
          <p:cNvPr id="58" name="Shape 56"/>
          <p:cNvSpPr/>
          <p:nvPr/>
        </p:nvSpPr>
        <p:spPr>
          <a:xfrm>
            <a:off x="2149937" y="4747382"/>
            <a:ext cx="93269" cy="74615"/>
          </a:xfrm>
          <a:prstGeom prst="roundRect">
            <a:avLst>
              <a:gd name="adj" fmla="val 6127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56155" y="4753600"/>
            <a:ext cx="77724" cy="5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" dirty="0">
                <a:solidFill>
                  <a:srgbClr val="111111"/>
                </a:solidFill>
              </a:rPr>
              <a:t>0</a:t>
            </a:r>
            <a:endParaRPr lang="en-US" sz="340" dirty="0"/>
          </a:p>
        </p:txBody>
      </p:sp>
      <p:sp>
        <p:nvSpPr>
          <p:cNvPr id="60" name="Shape 58"/>
          <p:cNvSpPr/>
          <p:nvPr/>
        </p:nvSpPr>
        <p:spPr>
          <a:xfrm>
            <a:off x="4927884" y="3973251"/>
            <a:ext cx="0" cy="38862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4927884" y="3973251"/>
            <a:ext cx="341986" cy="388620"/>
          </a:xfrm>
          <a:prstGeom prst="line">
            <a:avLst/>
          </a:prstGeom>
          <a:noFill/>
          <a:ln w="3810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585899" y="4361871"/>
            <a:ext cx="0" cy="373075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4585899" y="4361871"/>
            <a:ext cx="170993" cy="373075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5269870" y="4361871"/>
            <a:ext cx="0" cy="373075"/>
          </a:xfrm>
          <a:prstGeom prst="line">
            <a:avLst/>
          </a:prstGeom>
          <a:noFill/>
          <a:ln w="3810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5269870" y="4361871"/>
            <a:ext cx="170993" cy="373075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4840834" y="3886200"/>
            <a:ext cx="174102" cy="174102"/>
          </a:xfrm>
          <a:prstGeom prst="ellipse">
            <a:avLst/>
          </a:prstGeom>
          <a:solidFill>
            <a:srgbClr val="EAF2FF"/>
          </a:solidFill>
          <a:ln w="27940">
            <a:solidFill>
              <a:srgbClr val="0057B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40834" y="3911072"/>
            <a:ext cx="17410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8" b="1" dirty="0">
                <a:solidFill>
                  <a:srgbClr val="0057B8"/>
                </a:solidFill>
              </a:rPr>
              <a:t>30</a:t>
            </a:r>
            <a:endParaRPr lang="en-US" sz="578" dirty="0"/>
          </a:p>
        </p:txBody>
      </p:sp>
      <p:sp>
        <p:nvSpPr>
          <p:cNvPr id="68" name="Shape 66"/>
          <p:cNvSpPr/>
          <p:nvPr/>
        </p:nvSpPr>
        <p:spPr>
          <a:xfrm>
            <a:off x="4974519" y="3985687"/>
            <a:ext cx="93269" cy="74615"/>
          </a:xfrm>
          <a:prstGeom prst="roundRect">
            <a:avLst>
              <a:gd name="adj" fmla="val 6127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80737" y="3991905"/>
            <a:ext cx="77724" cy="5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" dirty="0">
                <a:solidFill>
                  <a:srgbClr val="111111"/>
                </a:solidFill>
              </a:rPr>
              <a:t>0</a:t>
            </a:r>
            <a:endParaRPr lang="en-US" sz="340" dirty="0"/>
          </a:p>
        </p:txBody>
      </p:sp>
      <p:sp>
        <p:nvSpPr>
          <p:cNvPr id="70" name="Shape 68"/>
          <p:cNvSpPr/>
          <p:nvPr/>
        </p:nvSpPr>
        <p:spPr>
          <a:xfrm>
            <a:off x="4498848" y="4274820"/>
            <a:ext cx="174102" cy="17410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98848" y="4299692"/>
            <a:ext cx="17410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8" dirty="0">
                <a:solidFill>
                  <a:srgbClr val="111111"/>
                </a:solidFill>
              </a:rPr>
              <a:t>20</a:t>
            </a:r>
            <a:endParaRPr lang="en-US" sz="578" dirty="0"/>
          </a:p>
        </p:txBody>
      </p:sp>
      <p:sp>
        <p:nvSpPr>
          <p:cNvPr id="72" name="Shape 70"/>
          <p:cNvSpPr/>
          <p:nvPr/>
        </p:nvSpPr>
        <p:spPr>
          <a:xfrm>
            <a:off x="4632533" y="4374307"/>
            <a:ext cx="93269" cy="74615"/>
          </a:xfrm>
          <a:prstGeom prst="roundRect">
            <a:avLst>
              <a:gd name="adj" fmla="val 6127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638751" y="4380525"/>
            <a:ext cx="77724" cy="5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" dirty="0">
                <a:solidFill>
                  <a:srgbClr val="111111"/>
                </a:solidFill>
              </a:rPr>
              <a:t>-1</a:t>
            </a:r>
            <a:endParaRPr lang="en-US" sz="340" dirty="0"/>
          </a:p>
        </p:txBody>
      </p:sp>
      <p:sp>
        <p:nvSpPr>
          <p:cNvPr id="74" name="Shape 72"/>
          <p:cNvSpPr/>
          <p:nvPr/>
        </p:nvSpPr>
        <p:spPr>
          <a:xfrm>
            <a:off x="5182819" y="4274820"/>
            <a:ext cx="174102" cy="17410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182819" y="4299692"/>
            <a:ext cx="17410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8" dirty="0">
                <a:solidFill>
                  <a:srgbClr val="111111"/>
                </a:solidFill>
              </a:rPr>
              <a:t>40</a:t>
            </a:r>
            <a:endParaRPr lang="en-US" sz="578" dirty="0"/>
          </a:p>
        </p:txBody>
      </p:sp>
      <p:sp>
        <p:nvSpPr>
          <p:cNvPr id="76" name="Shape 74"/>
          <p:cNvSpPr/>
          <p:nvPr/>
        </p:nvSpPr>
        <p:spPr>
          <a:xfrm>
            <a:off x="5316504" y="4374307"/>
            <a:ext cx="93269" cy="74615"/>
          </a:xfrm>
          <a:prstGeom prst="roundRect">
            <a:avLst>
              <a:gd name="adj" fmla="val 6127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22722" y="4380525"/>
            <a:ext cx="77724" cy="5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" dirty="0">
                <a:solidFill>
                  <a:srgbClr val="111111"/>
                </a:solidFill>
              </a:rPr>
              <a:t>1</a:t>
            </a:r>
            <a:endParaRPr lang="en-US" sz="340" dirty="0"/>
          </a:p>
        </p:txBody>
      </p:sp>
      <p:sp>
        <p:nvSpPr>
          <p:cNvPr id="78" name="Shape 76"/>
          <p:cNvSpPr/>
          <p:nvPr/>
        </p:nvSpPr>
        <p:spPr>
          <a:xfrm>
            <a:off x="4327855" y="4647895"/>
            <a:ext cx="174102" cy="17410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27855" y="4672767"/>
            <a:ext cx="17410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8" dirty="0">
                <a:solidFill>
                  <a:srgbClr val="111111"/>
                </a:solidFill>
              </a:rPr>
              <a:t>10</a:t>
            </a:r>
            <a:endParaRPr lang="en-US" sz="578" dirty="0"/>
          </a:p>
        </p:txBody>
      </p:sp>
      <p:sp>
        <p:nvSpPr>
          <p:cNvPr id="80" name="Shape 78"/>
          <p:cNvSpPr/>
          <p:nvPr/>
        </p:nvSpPr>
        <p:spPr>
          <a:xfrm>
            <a:off x="4461540" y="4747382"/>
            <a:ext cx="93269" cy="74615"/>
          </a:xfrm>
          <a:prstGeom prst="roundRect">
            <a:avLst>
              <a:gd name="adj" fmla="val 6127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467758" y="4753600"/>
            <a:ext cx="77724" cy="5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" dirty="0">
                <a:solidFill>
                  <a:srgbClr val="111111"/>
                </a:solidFill>
              </a:rPr>
              <a:t>0</a:t>
            </a:r>
            <a:endParaRPr lang="en-US" sz="340" dirty="0"/>
          </a:p>
        </p:txBody>
      </p:sp>
      <p:sp>
        <p:nvSpPr>
          <p:cNvPr id="82" name="Shape 80"/>
          <p:cNvSpPr/>
          <p:nvPr/>
        </p:nvSpPr>
        <p:spPr>
          <a:xfrm>
            <a:off x="4669841" y="4647895"/>
            <a:ext cx="174102" cy="17410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69841" y="4672767"/>
            <a:ext cx="17410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8" dirty="0">
                <a:solidFill>
                  <a:srgbClr val="111111"/>
                </a:solidFill>
              </a:rPr>
              <a:t>25</a:t>
            </a:r>
            <a:endParaRPr lang="en-US" sz="578" dirty="0"/>
          </a:p>
        </p:txBody>
      </p:sp>
      <p:sp>
        <p:nvSpPr>
          <p:cNvPr id="84" name="Shape 82"/>
          <p:cNvSpPr/>
          <p:nvPr/>
        </p:nvSpPr>
        <p:spPr>
          <a:xfrm>
            <a:off x="4803526" y="4747382"/>
            <a:ext cx="93269" cy="74615"/>
          </a:xfrm>
          <a:prstGeom prst="roundRect">
            <a:avLst>
              <a:gd name="adj" fmla="val 6127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09744" y="4753600"/>
            <a:ext cx="77724" cy="5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" dirty="0">
                <a:solidFill>
                  <a:srgbClr val="111111"/>
                </a:solidFill>
              </a:rPr>
              <a:t>0</a:t>
            </a:r>
            <a:endParaRPr lang="en-US" sz="340" dirty="0"/>
          </a:p>
        </p:txBody>
      </p:sp>
      <p:sp>
        <p:nvSpPr>
          <p:cNvPr id="86" name="Shape 84"/>
          <p:cNvSpPr/>
          <p:nvPr/>
        </p:nvSpPr>
        <p:spPr>
          <a:xfrm>
            <a:off x="5011826" y="4647895"/>
            <a:ext cx="174102" cy="17410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011826" y="4672767"/>
            <a:ext cx="17410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8" dirty="0">
                <a:solidFill>
                  <a:srgbClr val="111111"/>
                </a:solidFill>
              </a:rPr>
              <a:t>35</a:t>
            </a:r>
            <a:endParaRPr lang="en-US" sz="578" dirty="0"/>
          </a:p>
        </p:txBody>
      </p:sp>
      <p:sp>
        <p:nvSpPr>
          <p:cNvPr id="88" name="Shape 86"/>
          <p:cNvSpPr/>
          <p:nvPr/>
        </p:nvSpPr>
        <p:spPr>
          <a:xfrm>
            <a:off x="5145512" y="4747382"/>
            <a:ext cx="93269" cy="74615"/>
          </a:xfrm>
          <a:prstGeom prst="roundRect">
            <a:avLst>
              <a:gd name="adj" fmla="val 6127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151730" y="4753600"/>
            <a:ext cx="77724" cy="5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" dirty="0">
                <a:solidFill>
                  <a:srgbClr val="111111"/>
                </a:solidFill>
              </a:rPr>
              <a:t>0</a:t>
            </a:r>
            <a:endParaRPr lang="en-US" sz="340" dirty="0"/>
          </a:p>
        </p:txBody>
      </p:sp>
      <p:sp>
        <p:nvSpPr>
          <p:cNvPr id="90" name="Shape 88"/>
          <p:cNvSpPr/>
          <p:nvPr/>
        </p:nvSpPr>
        <p:spPr>
          <a:xfrm>
            <a:off x="5353812" y="4647895"/>
            <a:ext cx="174102" cy="17410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353812" y="4672767"/>
            <a:ext cx="17410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8" dirty="0">
                <a:solidFill>
                  <a:srgbClr val="111111"/>
                </a:solidFill>
              </a:rPr>
              <a:t>50</a:t>
            </a:r>
            <a:endParaRPr lang="en-US" sz="578" dirty="0"/>
          </a:p>
        </p:txBody>
      </p:sp>
      <p:sp>
        <p:nvSpPr>
          <p:cNvPr id="92" name="Shape 90"/>
          <p:cNvSpPr/>
          <p:nvPr/>
        </p:nvSpPr>
        <p:spPr>
          <a:xfrm>
            <a:off x="5487497" y="4747382"/>
            <a:ext cx="93269" cy="74615"/>
          </a:xfrm>
          <a:prstGeom prst="roundRect">
            <a:avLst>
              <a:gd name="adj" fmla="val 6127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493715" y="4753600"/>
            <a:ext cx="77724" cy="5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" dirty="0">
                <a:solidFill>
                  <a:srgbClr val="111111"/>
                </a:solidFill>
              </a:rPr>
              <a:t>0</a:t>
            </a:r>
            <a:endParaRPr lang="en-US" sz="340" dirty="0"/>
          </a:p>
        </p:txBody>
      </p:sp>
      <p:sp>
        <p:nvSpPr>
          <p:cNvPr id="94" name="Shape 92"/>
          <p:cNvSpPr/>
          <p:nvPr/>
        </p:nvSpPr>
        <p:spPr>
          <a:xfrm>
            <a:off x="8440461" y="3935212"/>
            <a:ext cx="0" cy="42291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8440461" y="3935212"/>
            <a:ext cx="372161" cy="422910"/>
          </a:xfrm>
          <a:prstGeom prst="line">
            <a:avLst/>
          </a:prstGeom>
          <a:noFill/>
          <a:ln w="3810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8068300" y="4358122"/>
            <a:ext cx="0" cy="405994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8068300" y="4358122"/>
            <a:ext cx="186080" cy="405994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>
            <a:off x="8812621" y="4358122"/>
            <a:ext cx="0" cy="405994"/>
          </a:xfrm>
          <a:prstGeom prst="line">
            <a:avLst/>
          </a:prstGeom>
          <a:noFill/>
          <a:ln w="3810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>
            <a:off x="8812621" y="4358122"/>
            <a:ext cx="186080" cy="405994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>
            <a:off x="8345729" y="3840480"/>
            <a:ext cx="189464" cy="189464"/>
          </a:xfrm>
          <a:prstGeom prst="ellipse">
            <a:avLst/>
          </a:prstGeom>
          <a:solidFill>
            <a:srgbClr val="EAF2FF"/>
          </a:solidFill>
          <a:ln w="27940">
            <a:solidFill>
              <a:srgbClr val="0057B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345729" y="3867546"/>
            <a:ext cx="189464" cy="84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9" b="1" dirty="0">
                <a:solidFill>
                  <a:srgbClr val="0057B8"/>
                </a:solidFill>
              </a:rPr>
              <a:t>30</a:t>
            </a:r>
            <a:endParaRPr lang="en-US" sz="629" dirty="0"/>
          </a:p>
        </p:txBody>
      </p:sp>
      <p:sp>
        <p:nvSpPr>
          <p:cNvPr id="102" name="Shape 100"/>
          <p:cNvSpPr/>
          <p:nvPr/>
        </p:nvSpPr>
        <p:spPr>
          <a:xfrm>
            <a:off x="8491210" y="3948745"/>
            <a:ext cx="101498" cy="81199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497976" y="3955512"/>
            <a:ext cx="84582" cy="60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0" dirty="0">
                <a:solidFill>
                  <a:srgbClr val="111111"/>
                </a:solidFill>
              </a:rPr>
              <a:t>0</a:t>
            </a:r>
            <a:endParaRPr lang="en-US" sz="370" dirty="0"/>
          </a:p>
        </p:txBody>
      </p:sp>
      <p:sp>
        <p:nvSpPr>
          <p:cNvPr id="104" name="Shape 102"/>
          <p:cNvSpPr/>
          <p:nvPr/>
        </p:nvSpPr>
        <p:spPr>
          <a:xfrm>
            <a:off x="7973568" y="4263390"/>
            <a:ext cx="189464" cy="18946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973568" y="4290456"/>
            <a:ext cx="189464" cy="84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9" dirty="0">
                <a:solidFill>
                  <a:srgbClr val="111111"/>
                </a:solidFill>
              </a:rPr>
              <a:t>20</a:t>
            </a:r>
            <a:endParaRPr lang="en-US" sz="629" dirty="0"/>
          </a:p>
        </p:txBody>
      </p:sp>
      <p:sp>
        <p:nvSpPr>
          <p:cNvPr id="106" name="Shape 104"/>
          <p:cNvSpPr/>
          <p:nvPr/>
        </p:nvSpPr>
        <p:spPr>
          <a:xfrm>
            <a:off x="8119049" y="4371655"/>
            <a:ext cx="101498" cy="81199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125816" y="4378422"/>
            <a:ext cx="84582" cy="60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0" dirty="0">
                <a:solidFill>
                  <a:srgbClr val="111111"/>
                </a:solidFill>
              </a:rPr>
              <a:t>-1</a:t>
            </a:r>
            <a:endParaRPr lang="en-US" sz="370" dirty="0"/>
          </a:p>
        </p:txBody>
      </p:sp>
      <p:sp>
        <p:nvSpPr>
          <p:cNvPr id="108" name="Shape 106"/>
          <p:cNvSpPr/>
          <p:nvPr/>
        </p:nvSpPr>
        <p:spPr>
          <a:xfrm>
            <a:off x="8717890" y="4263390"/>
            <a:ext cx="189464" cy="18946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717890" y="4290456"/>
            <a:ext cx="189464" cy="84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9" dirty="0">
                <a:solidFill>
                  <a:srgbClr val="111111"/>
                </a:solidFill>
              </a:rPr>
              <a:t>40</a:t>
            </a:r>
            <a:endParaRPr lang="en-US" sz="629" dirty="0"/>
          </a:p>
        </p:txBody>
      </p:sp>
      <p:sp>
        <p:nvSpPr>
          <p:cNvPr id="110" name="Shape 108"/>
          <p:cNvSpPr/>
          <p:nvPr/>
        </p:nvSpPr>
        <p:spPr>
          <a:xfrm>
            <a:off x="8863371" y="4371655"/>
            <a:ext cx="101498" cy="81199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870137" y="4378422"/>
            <a:ext cx="84582" cy="60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0" dirty="0">
                <a:solidFill>
                  <a:srgbClr val="111111"/>
                </a:solidFill>
              </a:rPr>
              <a:t>1</a:t>
            </a:r>
            <a:endParaRPr lang="en-US" sz="370" dirty="0"/>
          </a:p>
        </p:txBody>
      </p:sp>
      <p:sp>
        <p:nvSpPr>
          <p:cNvPr id="112" name="Shape 110"/>
          <p:cNvSpPr/>
          <p:nvPr/>
        </p:nvSpPr>
        <p:spPr>
          <a:xfrm>
            <a:off x="7787488" y="4669384"/>
            <a:ext cx="189464" cy="18946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787488" y="4696450"/>
            <a:ext cx="189464" cy="84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9" dirty="0">
                <a:solidFill>
                  <a:srgbClr val="111111"/>
                </a:solidFill>
              </a:rPr>
              <a:t>10</a:t>
            </a:r>
            <a:endParaRPr lang="en-US" sz="629" dirty="0"/>
          </a:p>
        </p:txBody>
      </p:sp>
      <p:sp>
        <p:nvSpPr>
          <p:cNvPr id="114" name="Shape 112"/>
          <p:cNvSpPr/>
          <p:nvPr/>
        </p:nvSpPr>
        <p:spPr>
          <a:xfrm>
            <a:off x="7932969" y="4777649"/>
            <a:ext cx="101498" cy="81199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939735" y="4784415"/>
            <a:ext cx="84582" cy="60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0" dirty="0">
                <a:solidFill>
                  <a:srgbClr val="111111"/>
                </a:solidFill>
              </a:rPr>
              <a:t>0</a:t>
            </a:r>
            <a:endParaRPr lang="en-US" sz="370" dirty="0"/>
          </a:p>
        </p:txBody>
      </p:sp>
      <p:sp>
        <p:nvSpPr>
          <p:cNvPr id="116" name="Shape 114"/>
          <p:cNvSpPr/>
          <p:nvPr/>
        </p:nvSpPr>
        <p:spPr>
          <a:xfrm>
            <a:off x="8159648" y="4669384"/>
            <a:ext cx="189464" cy="18946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159648" y="4696450"/>
            <a:ext cx="189464" cy="84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9" dirty="0">
                <a:solidFill>
                  <a:srgbClr val="111111"/>
                </a:solidFill>
              </a:rPr>
              <a:t>25</a:t>
            </a:r>
            <a:endParaRPr lang="en-US" sz="629" dirty="0"/>
          </a:p>
        </p:txBody>
      </p:sp>
      <p:sp>
        <p:nvSpPr>
          <p:cNvPr id="118" name="Shape 116"/>
          <p:cNvSpPr/>
          <p:nvPr/>
        </p:nvSpPr>
        <p:spPr>
          <a:xfrm>
            <a:off x="8305129" y="4777649"/>
            <a:ext cx="101498" cy="81199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311896" y="4784415"/>
            <a:ext cx="84582" cy="60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0" dirty="0">
                <a:solidFill>
                  <a:srgbClr val="111111"/>
                </a:solidFill>
              </a:rPr>
              <a:t>0</a:t>
            </a:r>
            <a:endParaRPr lang="en-US" sz="370" dirty="0"/>
          </a:p>
        </p:txBody>
      </p:sp>
      <p:sp>
        <p:nvSpPr>
          <p:cNvPr id="120" name="Shape 118"/>
          <p:cNvSpPr/>
          <p:nvPr/>
        </p:nvSpPr>
        <p:spPr>
          <a:xfrm>
            <a:off x="8531809" y="4669384"/>
            <a:ext cx="189464" cy="18946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531809" y="4696450"/>
            <a:ext cx="189464" cy="84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9" dirty="0">
                <a:solidFill>
                  <a:srgbClr val="111111"/>
                </a:solidFill>
              </a:rPr>
              <a:t>35</a:t>
            </a:r>
            <a:endParaRPr lang="en-US" sz="629" dirty="0"/>
          </a:p>
        </p:txBody>
      </p:sp>
      <p:sp>
        <p:nvSpPr>
          <p:cNvPr id="122" name="Shape 120"/>
          <p:cNvSpPr/>
          <p:nvPr/>
        </p:nvSpPr>
        <p:spPr>
          <a:xfrm>
            <a:off x="8677290" y="4777649"/>
            <a:ext cx="101498" cy="81199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684057" y="4784415"/>
            <a:ext cx="84582" cy="60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0" dirty="0">
                <a:solidFill>
                  <a:srgbClr val="111111"/>
                </a:solidFill>
              </a:rPr>
              <a:t>0</a:t>
            </a:r>
            <a:endParaRPr lang="en-US" sz="370" dirty="0"/>
          </a:p>
        </p:txBody>
      </p:sp>
      <p:sp>
        <p:nvSpPr>
          <p:cNvPr id="124" name="Shape 122"/>
          <p:cNvSpPr/>
          <p:nvPr/>
        </p:nvSpPr>
        <p:spPr>
          <a:xfrm>
            <a:off x="8903970" y="4669384"/>
            <a:ext cx="189464" cy="18946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903970" y="4696450"/>
            <a:ext cx="189464" cy="84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9" dirty="0">
                <a:solidFill>
                  <a:srgbClr val="111111"/>
                </a:solidFill>
              </a:rPr>
              <a:t>50</a:t>
            </a:r>
            <a:endParaRPr lang="en-US" sz="629" dirty="0"/>
          </a:p>
        </p:txBody>
      </p:sp>
      <p:sp>
        <p:nvSpPr>
          <p:cNvPr id="126" name="Shape 124"/>
          <p:cNvSpPr/>
          <p:nvPr/>
        </p:nvSpPr>
        <p:spPr>
          <a:xfrm>
            <a:off x="9049451" y="4777649"/>
            <a:ext cx="101498" cy="81199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9056218" y="4784415"/>
            <a:ext cx="84582" cy="60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0" dirty="0">
                <a:solidFill>
                  <a:srgbClr val="111111"/>
                </a:solidFill>
              </a:rPr>
              <a:t>0</a:t>
            </a:r>
            <a:endParaRPr lang="en-US" sz="370" dirty="0"/>
          </a:p>
        </p:txBody>
      </p:sp>
      <p:sp>
        <p:nvSpPr>
          <p:cNvPr id="128" name="Shape 126"/>
          <p:cNvSpPr/>
          <p:nvPr/>
        </p:nvSpPr>
        <p:spPr>
          <a:xfrm>
            <a:off x="566928" y="5623560"/>
            <a:ext cx="6126480" cy="548640"/>
          </a:xfrm>
          <a:prstGeom prst="roundRect">
            <a:avLst>
              <a:gd name="adj" fmla="val 20000"/>
            </a:avLst>
          </a:prstGeom>
          <a:solidFill>
            <a:srgbClr val="EAF2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31520" y="5751576"/>
            <a:ext cx="384048" cy="3840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95528" y="578815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57B8"/>
                </a:solidFill>
              </a:rPr>
              <a:t>✓</a:t>
            </a:r>
            <a:endParaRPr lang="en-US" sz="1700" dirty="0"/>
          </a:p>
        </p:txBody>
      </p:sp>
      <p:sp>
        <p:nvSpPr>
          <p:cNvPr id="131" name="Text 129"/>
          <p:cNvSpPr/>
          <p:nvPr/>
        </p:nvSpPr>
        <p:spPr>
          <a:xfrm>
            <a:off x="1252728" y="5760720"/>
            <a:ext cx="53035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57B8"/>
                </a:solidFill>
              </a:rPr>
              <a:t>После удаления пересчитываются высоты и при необходимости выполняются повороты.</a:t>
            </a:r>
            <a:endParaRPr lang="en-US" sz="1700" dirty="0"/>
          </a:p>
        </p:txBody>
      </p:sp>
      <p:sp>
        <p:nvSpPr>
          <p:cNvPr id="132" name="Text 130"/>
          <p:cNvSpPr/>
          <p:nvPr/>
        </p:nvSpPr>
        <p:spPr>
          <a:xfrm>
            <a:off x="7132320" y="5532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7B8"/>
                </a:solidFill>
              </a:rPr>
              <a:t>Пример:</a:t>
            </a:r>
            <a:endParaRPr lang="en-US" sz="1400" dirty="0"/>
          </a:p>
        </p:txBody>
      </p:sp>
      <p:sp>
        <p:nvSpPr>
          <p:cNvPr id="133" name="Shape 131"/>
          <p:cNvSpPr/>
          <p:nvPr/>
        </p:nvSpPr>
        <p:spPr>
          <a:xfrm>
            <a:off x="8309884" y="5428610"/>
            <a:ext cx="0" cy="35433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134" name="Shape 132"/>
          <p:cNvSpPr/>
          <p:nvPr/>
        </p:nvSpPr>
        <p:spPr>
          <a:xfrm>
            <a:off x="8309884" y="5428610"/>
            <a:ext cx="311810" cy="354330"/>
          </a:xfrm>
          <a:prstGeom prst="line">
            <a:avLst/>
          </a:prstGeom>
          <a:noFill/>
          <a:ln w="3810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135" name="Shape 133"/>
          <p:cNvSpPr/>
          <p:nvPr/>
        </p:nvSpPr>
        <p:spPr>
          <a:xfrm>
            <a:off x="7998074" y="5782940"/>
            <a:ext cx="0" cy="340157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136" name="Shape 134"/>
          <p:cNvSpPr/>
          <p:nvPr/>
        </p:nvSpPr>
        <p:spPr>
          <a:xfrm>
            <a:off x="7998074" y="5782940"/>
            <a:ext cx="155905" cy="340157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137" name="Shape 135"/>
          <p:cNvSpPr/>
          <p:nvPr/>
        </p:nvSpPr>
        <p:spPr>
          <a:xfrm>
            <a:off x="8621695" y="5782940"/>
            <a:ext cx="0" cy="340157"/>
          </a:xfrm>
          <a:prstGeom prst="line">
            <a:avLst/>
          </a:prstGeom>
          <a:noFill/>
          <a:ln w="3810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138" name="Shape 136"/>
          <p:cNvSpPr/>
          <p:nvPr/>
        </p:nvSpPr>
        <p:spPr>
          <a:xfrm>
            <a:off x="8621695" y="5782940"/>
            <a:ext cx="155905" cy="340157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139" name="Shape 137"/>
          <p:cNvSpPr/>
          <p:nvPr/>
        </p:nvSpPr>
        <p:spPr>
          <a:xfrm>
            <a:off x="8230514" y="5349240"/>
            <a:ext cx="158740" cy="15874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230514" y="5371917"/>
            <a:ext cx="158740" cy="7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7" dirty="0">
                <a:solidFill>
                  <a:srgbClr val="111111"/>
                </a:solidFill>
              </a:rPr>
              <a:t>30</a:t>
            </a:r>
            <a:endParaRPr lang="en-US" sz="527" dirty="0"/>
          </a:p>
        </p:txBody>
      </p:sp>
      <p:sp>
        <p:nvSpPr>
          <p:cNvPr id="141" name="Shape 139"/>
          <p:cNvSpPr/>
          <p:nvPr/>
        </p:nvSpPr>
        <p:spPr>
          <a:xfrm>
            <a:off x="8352404" y="5439948"/>
            <a:ext cx="85039" cy="68031"/>
          </a:xfrm>
          <a:prstGeom prst="roundRect">
            <a:avLst>
              <a:gd name="adj" fmla="val 6720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358073" y="5445618"/>
            <a:ext cx="70866" cy="51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" dirty="0">
                <a:solidFill>
                  <a:srgbClr val="111111"/>
                </a:solidFill>
              </a:rPr>
              <a:t>0</a:t>
            </a:r>
            <a:endParaRPr lang="en-US" sz="310" dirty="0"/>
          </a:p>
        </p:txBody>
      </p:sp>
      <p:sp>
        <p:nvSpPr>
          <p:cNvPr id="143" name="Shape 141"/>
          <p:cNvSpPr/>
          <p:nvPr/>
        </p:nvSpPr>
        <p:spPr>
          <a:xfrm>
            <a:off x="7918704" y="5703570"/>
            <a:ext cx="158740" cy="15874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918704" y="5726247"/>
            <a:ext cx="158740" cy="7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7" dirty="0">
                <a:solidFill>
                  <a:srgbClr val="111111"/>
                </a:solidFill>
              </a:rPr>
              <a:t>20</a:t>
            </a:r>
            <a:endParaRPr lang="en-US" sz="527" dirty="0"/>
          </a:p>
        </p:txBody>
      </p:sp>
      <p:sp>
        <p:nvSpPr>
          <p:cNvPr id="145" name="Shape 143"/>
          <p:cNvSpPr/>
          <p:nvPr/>
        </p:nvSpPr>
        <p:spPr>
          <a:xfrm>
            <a:off x="8040594" y="5794278"/>
            <a:ext cx="85039" cy="68031"/>
          </a:xfrm>
          <a:prstGeom prst="roundRect">
            <a:avLst>
              <a:gd name="adj" fmla="val 6720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8046263" y="5799948"/>
            <a:ext cx="70866" cy="51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" dirty="0">
                <a:solidFill>
                  <a:srgbClr val="111111"/>
                </a:solidFill>
              </a:rPr>
              <a:t>-1</a:t>
            </a:r>
            <a:endParaRPr lang="en-US" sz="310" dirty="0"/>
          </a:p>
        </p:txBody>
      </p:sp>
      <p:sp>
        <p:nvSpPr>
          <p:cNvPr id="147" name="Shape 145"/>
          <p:cNvSpPr/>
          <p:nvPr/>
        </p:nvSpPr>
        <p:spPr>
          <a:xfrm>
            <a:off x="8542325" y="5703570"/>
            <a:ext cx="158740" cy="15874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542325" y="5726247"/>
            <a:ext cx="158740" cy="7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7" dirty="0">
                <a:solidFill>
                  <a:srgbClr val="111111"/>
                </a:solidFill>
              </a:rPr>
              <a:t>40</a:t>
            </a:r>
            <a:endParaRPr lang="en-US" sz="527" dirty="0"/>
          </a:p>
        </p:txBody>
      </p:sp>
      <p:sp>
        <p:nvSpPr>
          <p:cNvPr id="149" name="Shape 147"/>
          <p:cNvSpPr/>
          <p:nvPr/>
        </p:nvSpPr>
        <p:spPr>
          <a:xfrm>
            <a:off x="8664214" y="5794278"/>
            <a:ext cx="85039" cy="68031"/>
          </a:xfrm>
          <a:prstGeom prst="roundRect">
            <a:avLst>
              <a:gd name="adj" fmla="val 6720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8669884" y="5799948"/>
            <a:ext cx="70866" cy="51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" dirty="0">
                <a:solidFill>
                  <a:srgbClr val="111111"/>
                </a:solidFill>
              </a:rPr>
              <a:t>1</a:t>
            </a:r>
            <a:endParaRPr lang="en-US" sz="310" dirty="0"/>
          </a:p>
        </p:txBody>
      </p:sp>
      <p:sp>
        <p:nvSpPr>
          <p:cNvPr id="151" name="Shape 149"/>
          <p:cNvSpPr/>
          <p:nvPr/>
        </p:nvSpPr>
        <p:spPr>
          <a:xfrm>
            <a:off x="7762799" y="6043727"/>
            <a:ext cx="158740" cy="15874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7762799" y="6066404"/>
            <a:ext cx="158740" cy="7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7" dirty="0">
                <a:solidFill>
                  <a:srgbClr val="111111"/>
                </a:solidFill>
              </a:rPr>
              <a:t>10</a:t>
            </a:r>
            <a:endParaRPr lang="en-US" sz="527" dirty="0"/>
          </a:p>
        </p:txBody>
      </p:sp>
      <p:sp>
        <p:nvSpPr>
          <p:cNvPr id="153" name="Shape 151"/>
          <p:cNvSpPr/>
          <p:nvPr/>
        </p:nvSpPr>
        <p:spPr>
          <a:xfrm>
            <a:off x="7884688" y="6134435"/>
            <a:ext cx="85039" cy="68031"/>
          </a:xfrm>
          <a:prstGeom prst="roundRect">
            <a:avLst>
              <a:gd name="adj" fmla="val 6720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7890358" y="6140105"/>
            <a:ext cx="70866" cy="51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" dirty="0">
                <a:solidFill>
                  <a:srgbClr val="111111"/>
                </a:solidFill>
              </a:rPr>
              <a:t>0</a:t>
            </a:r>
            <a:endParaRPr lang="en-US" sz="310" dirty="0"/>
          </a:p>
        </p:txBody>
      </p:sp>
      <p:sp>
        <p:nvSpPr>
          <p:cNvPr id="155" name="Shape 153"/>
          <p:cNvSpPr/>
          <p:nvPr/>
        </p:nvSpPr>
        <p:spPr>
          <a:xfrm>
            <a:off x="8074609" y="6043727"/>
            <a:ext cx="158740" cy="158740"/>
          </a:xfrm>
          <a:prstGeom prst="ellipse">
            <a:avLst/>
          </a:prstGeom>
          <a:solidFill>
            <a:srgbClr val="EAF2FF"/>
          </a:solidFill>
          <a:ln w="27940">
            <a:solidFill>
              <a:srgbClr val="0057B8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8074609" y="6066404"/>
            <a:ext cx="158740" cy="7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7" b="1" dirty="0">
                <a:solidFill>
                  <a:srgbClr val="0057B8"/>
                </a:solidFill>
              </a:rPr>
              <a:t>25</a:t>
            </a:r>
            <a:endParaRPr lang="en-US" sz="527" dirty="0"/>
          </a:p>
        </p:txBody>
      </p:sp>
      <p:sp>
        <p:nvSpPr>
          <p:cNvPr id="157" name="Shape 155"/>
          <p:cNvSpPr/>
          <p:nvPr/>
        </p:nvSpPr>
        <p:spPr>
          <a:xfrm>
            <a:off x="8196499" y="6134435"/>
            <a:ext cx="85039" cy="68031"/>
          </a:xfrm>
          <a:prstGeom prst="roundRect">
            <a:avLst>
              <a:gd name="adj" fmla="val 6720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8202168" y="6140105"/>
            <a:ext cx="70866" cy="51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" dirty="0">
                <a:solidFill>
                  <a:srgbClr val="111111"/>
                </a:solidFill>
              </a:rPr>
              <a:t>0</a:t>
            </a:r>
            <a:endParaRPr lang="en-US" sz="310" dirty="0"/>
          </a:p>
        </p:txBody>
      </p:sp>
      <p:sp>
        <p:nvSpPr>
          <p:cNvPr id="159" name="Shape 157"/>
          <p:cNvSpPr/>
          <p:nvPr/>
        </p:nvSpPr>
        <p:spPr>
          <a:xfrm>
            <a:off x="8386420" y="6043727"/>
            <a:ext cx="158740" cy="15874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8386420" y="6066404"/>
            <a:ext cx="158740" cy="7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7" dirty="0">
                <a:solidFill>
                  <a:srgbClr val="111111"/>
                </a:solidFill>
              </a:rPr>
              <a:t>35</a:t>
            </a:r>
            <a:endParaRPr lang="en-US" sz="527" dirty="0"/>
          </a:p>
        </p:txBody>
      </p:sp>
      <p:sp>
        <p:nvSpPr>
          <p:cNvPr id="161" name="Shape 159"/>
          <p:cNvSpPr/>
          <p:nvPr/>
        </p:nvSpPr>
        <p:spPr>
          <a:xfrm>
            <a:off x="8508309" y="6134435"/>
            <a:ext cx="85039" cy="68031"/>
          </a:xfrm>
          <a:prstGeom prst="roundRect">
            <a:avLst>
              <a:gd name="adj" fmla="val 6720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8513978" y="6140105"/>
            <a:ext cx="70866" cy="51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" dirty="0">
                <a:solidFill>
                  <a:srgbClr val="111111"/>
                </a:solidFill>
              </a:rPr>
              <a:t>0</a:t>
            </a:r>
            <a:endParaRPr lang="en-US" sz="310" dirty="0"/>
          </a:p>
        </p:txBody>
      </p:sp>
      <p:sp>
        <p:nvSpPr>
          <p:cNvPr id="163" name="Shape 161"/>
          <p:cNvSpPr/>
          <p:nvPr/>
        </p:nvSpPr>
        <p:spPr>
          <a:xfrm>
            <a:off x="8698230" y="6043727"/>
            <a:ext cx="158740" cy="15874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8698230" y="6066404"/>
            <a:ext cx="158740" cy="7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7" dirty="0">
                <a:solidFill>
                  <a:srgbClr val="111111"/>
                </a:solidFill>
              </a:rPr>
              <a:t>50</a:t>
            </a:r>
            <a:endParaRPr lang="en-US" sz="527" dirty="0"/>
          </a:p>
        </p:txBody>
      </p:sp>
      <p:sp>
        <p:nvSpPr>
          <p:cNvPr id="165" name="Shape 163"/>
          <p:cNvSpPr/>
          <p:nvPr/>
        </p:nvSpPr>
        <p:spPr>
          <a:xfrm>
            <a:off x="8820120" y="6134435"/>
            <a:ext cx="85039" cy="68031"/>
          </a:xfrm>
          <a:prstGeom prst="roundRect">
            <a:avLst>
              <a:gd name="adj" fmla="val 6720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8825789" y="6140105"/>
            <a:ext cx="70866" cy="51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" dirty="0">
                <a:solidFill>
                  <a:srgbClr val="111111"/>
                </a:solidFill>
              </a:rPr>
              <a:t>0</a:t>
            </a:r>
            <a:endParaRPr lang="en-US" sz="310" dirty="0"/>
          </a:p>
        </p:txBody>
      </p:sp>
      <p:sp>
        <p:nvSpPr>
          <p:cNvPr id="167" name="Text 165"/>
          <p:cNvSpPr/>
          <p:nvPr/>
        </p:nvSpPr>
        <p:spPr>
          <a:xfrm>
            <a:off x="9189720" y="58978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</a:rPr>
              <a:t>→</a:t>
            </a:r>
            <a:endParaRPr lang="en-US" sz="1600" dirty="0"/>
          </a:p>
        </p:txBody>
      </p:sp>
      <p:sp>
        <p:nvSpPr>
          <p:cNvPr id="168" name="Shape 166"/>
          <p:cNvSpPr/>
          <p:nvPr/>
        </p:nvSpPr>
        <p:spPr>
          <a:xfrm>
            <a:off x="10138684" y="5428610"/>
            <a:ext cx="0" cy="35433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169" name="Shape 167"/>
          <p:cNvSpPr/>
          <p:nvPr/>
        </p:nvSpPr>
        <p:spPr>
          <a:xfrm>
            <a:off x="10138684" y="5428610"/>
            <a:ext cx="311810" cy="35433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170" name="Shape 168"/>
          <p:cNvSpPr/>
          <p:nvPr/>
        </p:nvSpPr>
        <p:spPr>
          <a:xfrm>
            <a:off x="9826874" y="5782940"/>
            <a:ext cx="0" cy="340157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171" name="Shape 169"/>
          <p:cNvSpPr/>
          <p:nvPr/>
        </p:nvSpPr>
        <p:spPr>
          <a:xfrm>
            <a:off x="9826874" y="5782940"/>
            <a:ext cx="155905" cy="340157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172" name="Shape 170"/>
          <p:cNvSpPr/>
          <p:nvPr/>
        </p:nvSpPr>
        <p:spPr>
          <a:xfrm>
            <a:off x="10450495" y="5782940"/>
            <a:ext cx="0" cy="340157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173" name="Shape 171"/>
          <p:cNvSpPr/>
          <p:nvPr/>
        </p:nvSpPr>
        <p:spPr>
          <a:xfrm>
            <a:off x="10450495" y="5782940"/>
            <a:ext cx="155905" cy="340157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  <a:tailEnd type="triangle"/>
          </a:ln>
        </p:spPr>
      </p:sp>
      <p:sp>
        <p:nvSpPr>
          <p:cNvPr id="174" name="Shape 172"/>
          <p:cNvSpPr/>
          <p:nvPr/>
        </p:nvSpPr>
        <p:spPr>
          <a:xfrm>
            <a:off x="10059314" y="5349240"/>
            <a:ext cx="158740" cy="15874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059314" y="5371917"/>
            <a:ext cx="158740" cy="7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7" dirty="0">
                <a:solidFill>
                  <a:srgbClr val="111111"/>
                </a:solidFill>
              </a:rPr>
              <a:t>30</a:t>
            </a:r>
            <a:endParaRPr lang="en-US" sz="527" dirty="0"/>
          </a:p>
        </p:txBody>
      </p:sp>
      <p:sp>
        <p:nvSpPr>
          <p:cNvPr id="176" name="Shape 174"/>
          <p:cNvSpPr/>
          <p:nvPr/>
        </p:nvSpPr>
        <p:spPr>
          <a:xfrm>
            <a:off x="10181204" y="5439948"/>
            <a:ext cx="85039" cy="68031"/>
          </a:xfrm>
          <a:prstGeom prst="roundRect">
            <a:avLst>
              <a:gd name="adj" fmla="val 6720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10186873" y="5445618"/>
            <a:ext cx="70866" cy="51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" dirty="0">
                <a:solidFill>
                  <a:srgbClr val="111111"/>
                </a:solidFill>
              </a:rPr>
              <a:t>0</a:t>
            </a:r>
            <a:endParaRPr lang="en-US" sz="310" dirty="0"/>
          </a:p>
        </p:txBody>
      </p:sp>
      <p:sp>
        <p:nvSpPr>
          <p:cNvPr id="178" name="Shape 176"/>
          <p:cNvSpPr/>
          <p:nvPr/>
        </p:nvSpPr>
        <p:spPr>
          <a:xfrm>
            <a:off x="9747504" y="5703570"/>
            <a:ext cx="158740" cy="15874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9747504" y="5726247"/>
            <a:ext cx="158740" cy="7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7" dirty="0">
                <a:solidFill>
                  <a:srgbClr val="111111"/>
                </a:solidFill>
              </a:rPr>
              <a:t>20</a:t>
            </a:r>
            <a:endParaRPr lang="en-US" sz="527" dirty="0"/>
          </a:p>
        </p:txBody>
      </p:sp>
      <p:sp>
        <p:nvSpPr>
          <p:cNvPr id="180" name="Shape 178"/>
          <p:cNvSpPr/>
          <p:nvPr/>
        </p:nvSpPr>
        <p:spPr>
          <a:xfrm>
            <a:off x="9869394" y="5794278"/>
            <a:ext cx="85039" cy="68031"/>
          </a:xfrm>
          <a:prstGeom prst="roundRect">
            <a:avLst>
              <a:gd name="adj" fmla="val 6720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9875063" y="5799948"/>
            <a:ext cx="70866" cy="51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" dirty="0">
                <a:solidFill>
                  <a:srgbClr val="111111"/>
                </a:solidFill>
              </a:rPr>
              <a:t>-1</a:t>
            </a:r>
            <a:endParaRPr lang="en-US" sz="310" dirty="0"/>
          </a:p>
        </p:txBody>
      </p:sp>
      <p:sp>
        <p:nvSpPr>
          <p:cNvPr id="182" name="Shape 180"/>
          <p:cNvSpPr/>
          <p:nvPr/>
        </p:nvSpPr>
        <p:spPr>
          <a:xfrm>
            <a:off x="10371125" y="5703570"/>
            <a:ext cx="158740" cy="15874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10371125" y="5726247"/>
            <a:ext cx="158740" cy="7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7" dirty="0">
                <a:solidFill>
                  <a:srgbClr val="111111"/>
                </a:solidFill>
              </a:rPr>
              <a:t>40</a:t>
            </a:r>
            <a:endParaRPr lang="en-US" sz="527" dirty="0"/>
          </a:p>
        </p:txBody>
      </p:sp>
      <p:sp>
        <p:nvSpPr>
          <p:cNvPr id="184" name="Shape 182"/>
          <p:cNvSpPr/>
          <p:nvPr/>
        </p:nvSpPr>
        <p:spPr>
          <a:xfrm>
            <a:off x="10493014" y="5794278"/>
            <a:ext cx="85039" cy="68031"/>
          </a:xfrm>
          <a:prstGeom prst="roundRect">
            <a:avLst>
              <a:gd name="adj" fmla="val 6720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10498684" y="5799948"/>
            <a:ext cx="70866" cy="51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" dirty="0">
                <a:solidFill>
                  <a:srgbClr val="111111"/>
                </a:solidFill>
              </a:rPr>
              <a:t>1</a:t>
            </a:r>
            <a:endParaRPr lang="en-US" sz="310" dirty="0"/>
          </a:p>
        </p:txBody>
      </p:sp>
      <p:sp>
        <p:nvSpPr>
          <p:cNvPr id="186" name="Shape 184"/>
          <p:cNvSpPr/>
          <p:nvPr/>
        </p:nvSpPr>
        <p:spPr>
          <a:xfrm>
            <a:off x="9591599" y="6043727"/>
            <a:ext cx="158740" cy="15874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9591599" y="6066404"/>
            <a:ext cx="158740" cy="7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7" dirty="0">
                <a:solidFill>
                  <a:srgbClr val="111111"/>
                </a:solidFill>
              </a:rPr>
              <a:t>10</a:t>
            </a:r>
            <a:endParaRPr lang="en-US" sz="527" dirty="0"/>
          </a:p>
        </p:txBody>
      </p:sp>
      <p:sp>
        <p:nvSpPr>
          <p:cNvPr id="188" name="Shape 186"/>
          <p:cNvSpPr/>
          <p:nvPr/>
        </p:nvSpPr>
        <p:spPr>
          <a:xfrm>
            <a:off x="9713488" y="6134435"/>
            <a:ext cx="85039" cy="68031"/>
          </a:xfrm>
          <a:prstGeom prst="roundRect">
            <a:avLst>
              <a:gd name="adj" fmla="val 6720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9719158" y="6140105"/>
            <a:ext cx="70866" cy="51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" dirty="0">
                <a:solidFill>
                  <a:srgbClr val="111111"/>
                </a:solidFill>
              </a:rPr>
              <a:t>0</a:t>
            </a:r>
            <a:endParaRPr lang="en-US" sz="310" dirty="0"/>
          </a:p>
        </p:txBody>
      </p:sp>
      <p:sp>
        <p:nvSpPr>
          <p:cNvPr id="190" name="Shape 188"/>
          <p:cNvSpPr/>
          <p:nvPr/>
        </p:nvSpPr>
        <p:spPr>
          <a:xfrm>
            <a:off x="9903409" y="6043727"/>
            <a:ext cx="158740" cy="15874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9903409" y="6066404"/>
            <a:ext cx="158740" cy="7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7" dirty="0">
                <a:solidFill>
                  <a:srgbClr val="111111"/>
                </a:solidFill>
              </a:rPr>
              <a:t>25</a:t>
            </a:r>
            <a:endParaRPr lang="en-US" sz="527" dirty="0"/>
          </a:p>
        </p:txBody>
      </p:sp>
      <p:sp>
        <p:nvSpPr>
          <p:cNvPr id="192" name="Shape 190"/>
          <p:cNvSpPr/>
          <p:nvPr/>
        </p:nvSpPr>
        <p:spPr>
          <a:xfrm>
            <a:off x="10025299" y="6134435"/>
            <a:ext cx="85039" cy="68031"/>
          </a:xfrm>
          <a:prstGeom prst="roundRect">
            <a:avLst>
              <a:gd name="adj" fmla="val 6720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10030968" y="6140105"/>
            <a:ext cx="70866" cy="51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" dirty="0">
                <a:solidFill>
                  <a:srgbClr val="111111"/>
                </a:solidFill>
              </a:rPr>
              <a:t>0</a:t>
            </a:r>
            <a:endParaRPr lang="en-US" sz="310" dirty="0"/>
          </a:p>
        </p:txBody>
      </p:sp>
      <p:sp>
        <p:nvSpPr>
          <p:cNvPr id="194" name="Shape 192"/>
          <p:cNvSpPr/>
          <p:nvPr/>
        </p:nvSpPr>
        <p:spPr>
          <a:xfrm>
            <a:off x="10215220" y="6043727"/>
            <a:ext cx="158740" cy="15874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10215220" y="6066404"/>
            <a:ext cx="158740" cy="7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7" dirty="0">
                <a:solidFill>
                  <a:srgbClr val="111111"/>
                </a:solidFill>
              </a:rPr>
              <a:t>35</a:t>
            </a:r>
            <a:endParaRPr lang="en-US" sz="527" dirty="0"/>
          </a:p>
        </p:txBody>
      </p:sp>
      <p:sp>
        <p:nvSpPr>
          <p:cNvPr id="196" name="Shape 194"/>
          <p:cNvSpPr/>
          <p:nvPr/>
        </p:nvSpPr>
        <p:spPr>
          <a:xfrm>
            <a:off x="10337109" y="6134435"/>
            <a:ext cx="85039" cy="68031"/>
          </a:xfrm>
          <a:prstGeom prst="roundRect">
            <a:avLst>
              <a:gd name="adj" fmla="val 6720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10342778" y="6140105"/>
            <a:ext cx="70866" cy="51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" dirty="0">
                <a:solidFill>
                  <a:srgbClr val="111111"/>
                </a:solidFill>
              </a:rPr>
              <a:t>0</a:t>
            </a:r>
            <a:endParaRPr lang="en-US" sz="310" dirty="0"/>
          </a:p>
        </p:txBody>
      </p:sp>
      <p:sp>
        <p:nvSpPr>
          <p:cNvPr id="198" name="Shape 196"/>
          <p:cNvSpPr/>
          <p:nvPr/>
        </p:nvSpPr>
        <p:spPr>
          <a:xfrm>
            <a:off x="10527030" y="6043727"/>
            <a:ext cx="158740" cy="15874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10527030" y="6066404"/>
            <a:ext cx="158740" cy="7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7" dirty="0">
                <a:solidFill>
                  <a:srgbClr val="111111"/>
                </a:solidFill>
              </a:rPr>
              <a:t>50</a:t>
            </a:r>
            <a:endParaRPr lang="en-US" sz="527" dirty="0"/>
          </a:p>
        </p:txBody>
      </p:sp>
      <p:sp>
        <p:nvSpPr>
          <p:cNvPr id="200" name="Shape 198"/>
          <p:cNvSpPr/>
          <p:nvPr/>
        </p:nvSpPr>
        <p:spPr>
          <a:xfrm>
            <a:off x="10648920" y="6134435"/>
            <a:ext cx="85039" cy="68031"/>
          </a:xfrm>
          <a:prstGeom prst="roundRect">
            <a:avLst>
              <a:gd name="adj" fmla="val 67205"/>
            </a:avLst>
          </a:prstGeom>
          <a:solidFill>
            <a:srgbClr val="FFFFFF"/>
          </a:solidFill>
          <a:ln w="12700">
            <a:solidFill>
              <a:srgbClr val="7EA6D8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10654589" y="6140105"/>
            <a:ext cx="70866" cy="51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" dirty="0">
                <a:solidFill>
                  <a:srgbClr val="111111"/>
                </a:solidFill>
              </a:rPr>
              <a:t>0</a:t>
            </a:r>
            <a:endParaRPr lang="en-US" sz="310" dirty="0"/>
          </a:p>
        </p:txBody>
      </p:sp>
      <p:sp>
        <p:nvSpPr>
          <p:cNvPr id="202" name="Прямоугольник 201"/>
          <p:cNvSpPr/>
          <p:nvPr/>
        </p:nvSpPr>
        <p:spPr>
          <a:xfrm>
            <a:off x="0" y="9145"/>
            <a:ext cx="12192000" cy="111199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58952"/>
            <a:ext cx="1106424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70432" y="301752"/>
            <a:ext cx="0" cy="50292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310896"/>
            <a:ext cx="2743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Московский Государственный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Технический Университет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rot="10800000">
            <a:off x="10561320" y="0"/>
            <a:ext cx="475488" cy="1005840"/>
          </a:xfrm>
          <a:prstGeom prst="chevron">
            <a:avLst/>
          </a:prstGeom>
          <a:solidFill>
            <a:srgbClr val="DBE8F8">
              <a:alpha val="95000"/>
            </a:srgbClr>
          </a:solidFill>
          <a:ln w="12700">
            <a:solidFill>
              <a:srgbClr val="DBE8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0" y="0"/>
            <a:ext cx="1234440" cy="1005840"/>
          </a:xfrm>
          <a:prstGeom prst="parallelogram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03152" y="347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7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02920" y="6473952"/>
            <a:ext cx="397764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699248" y="6473952"/>
            <a:ext cx="388620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6441948"/>
            <a:ext cx="64008" cy="6400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48872" y="6441948"/>
            <a:ext cx="64008" cy="6400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6364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Алгоритмы и структуры данных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15087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Сложность операций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566928" y="2286000"/>
            <a:ext cx="1234440" cy="0"/>
          </a:xfrm>
          <a:prstGeom prst="line">
            <a:avLst/>
          </a:prstGeom>
          <a:noFill/>
          <a:ln w="50800">
            <a:solidFill>
              <a:srgbClr val="0057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514600"/>
            <a:ext cx="7223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2514600"/>
            <a:ext cx="7223760" cy="468630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587752"/>
            <a:ext cx="3611880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Операция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78808" y="2587752"/>
            <a:ext cx="3611880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Сложность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2983230"/>
            <a:ext cx="7223760" cy="0"/>
          </a:xfrm>
          <a:prstGeom prst="line">
            <a:avLst/>
          </a:prstGeom>
          <a:noFill/>
          <a:ln w="7620">
            <a:solidFill>
              <a:srgbClr val="9DBB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092958"/>
            <a:ext cx="3557016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Вставка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78808" y="2514600"/>
            <a:ext cx="0" cy="468630"/>
          </a:xfrm>
          <a:prstGeom prst="line">
            <a:avLst/>
          </a:prstGeom>
          <a:noFill/>
          <a:ln w="7620">
            <a:solidFill>
              <a:srgbClr val="9DBB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3092958"/>
            <a:ext cx="3557016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</a:rPr>
              <a:t>O(log n)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3451860"/>
            <a:ext cx="7223760" cy="0"/>
          </a:xfrm>
          <a:prstGeom prst="line">
            <a:avLst/>
          </a:prstGeom>
          <a:noFill/>
          <a:ln w="7620">
            <a:solidFill>
              <a:srgbClr val="9DBB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561588"/>
            <a:ext cx="3557016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Поиск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78808" y="2983230"/>
            <a:ext cx="0" cy="468630"/>
          </a:xfrm>
          <a:prstGeom prst="line">
            <a:avLst/>
          </a:prstGeom>
          <a:noFill/>
          <a:ln w="7620">
            <a:solidFill>
              <a:srgbClr val="9DBB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3561588"/>
            <a:ext cx="3557016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</a:rPr>
              <a:t>O(log n)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" y="3920490"/>
            <a:ext cx="7223760" cy="0"/>
          </a:xfrm>
          <a:prstGeom prst="line">
            <a:avLst/>
          </a:prstGeom>
          <a:noFill/>
          <a:ln w="7620">
            <a:solidFill>
              <a:srgbClr val="9DBB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030218"/>
            <a:ext cx="3557016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Удаление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178808" y="3451860"/>
            <a:ext cx="0" cy="468630"/>
          </a:xfrm>
          <a:prstGeom prst="line">
            <a:avLst/>
          </a:prstGeom>
          <a:noFill/>
          <a:ln w="7620">
            <a:solidFill>
              <a:srgbClr val="9DBB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4030218"/>
            <a:ext cx="3557016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</a:rPr>
              <a:t>O(log n)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6928" y="47548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57B8"/>
                </a:solidFill>
              </a:rPr>
              <a:t>• </a:t>
            </a:r>
            <a:r>
              <a:rPr lang="en-US" sz="1600" dirty="0">
                <a:solidFill>
                  <a:srgbClr val="111111"/>
                </a:solidFill>
              </a:rPr>
              <a:t>Высота АВЛ-дерева имеет порядок log n.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6928" y="514807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57B8"/>
                </a:solidFill>
              </a:rPr>
              <a:t>• </a:t>
            </a:r>
            <a:r>
              <a:rPr lang="en-US" sz="1600" dirty="0">
                <a:solidFill>
                  <a:srgbClr val="111111"/>
                </a:solidFill>
              </a:rPr>
              <a:t>Поэтому все основные операции выполняются быстро.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6928" y="55412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57B8"/>
                </a:solidFill>
              </a:rPr>
              <a:t>• </a:t>
            </a:r>
            <a:r>
              <a:rPr lang="en-US" sz="1600" dirty="0">
                <a:solidFill>
                  <a:srgbClr val="111111"/>
                </a:solidFill>
              </a:rPr>
              <a:t>Для n = 10000: log₂(10000) ≈ 13,29.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12480" y="2743200"/>
            <a:ext cx="2926080" cy="2377440"/>
          </a:xfrm>
          <a:prstGeom prst="roundRect">
            <a:avLst>
              <a:gd name="adj" fmla="val 4615"/>
            </a:avLst>
          </a:prstGeom>
          <a:solidFill>
            <a:srgbClr val="F4F8FF"/>
          </a:solidFill>
          <a:ln w="12700">
            <a:solidFill>
              <a:srgbClr val="F4F8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72600" y="30632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57B8"/>
                </a:solidFill>
              </a:rPr>
              <a:t>↗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8732520" y="3977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57B8"/>
                </a:solidFill>
              </a:rPr>
              <a:t>Несбалансированное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57B8"/>
                </a:solidFill>
              </a:rPr>
              <a:t>БДП: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732520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в худшем случае O(n)</a:t>
            </a:r>
            <a:endParaRPr lang="en-US" sz="1400" dirty="0"/>
          </a:p>
        </p:txBody>
      </p:sp>
      <p:sp>
        <p:nvSpPr>
          <p:cNvPr id="39" name="Прямоугольник 38"/>
          <p:cNvSpPr/>
          <p:nvPr/>
        </p:nvSpPr>
        <p:spPr>
          <a:xfrm>
            <a:off x="0" y="9145"/>
            <a:ext cx="12192000" cy="111199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58952"/>
            <a:ext cx="1106424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70432" y="301752"/>
            <a:ext cx="0" cy="50292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310896"/>
            <a:ext cx="2743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Московский Государственный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Технический Университет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rot="10800000">
            <a:off x="10561320" y="0"/>
            <a:ext cx="475488" cy="1005840"/>
          </a:xfrm>
          <a:prstGeom prst="chevron">
            <a:avLst/>
          </a:prstGeom>
          <a:solidFill>
            <a:srgbClr val="DBE8F8">
              <a:alpha val="95000"/>
            </a:srgbClr>
          </a:solidFill>
          <a:ln w="12700">
            <a:solidFill>
              <a:srgbClr val="DBE8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0" y="0"/>
            <a:ext cx="1234440" cy="1005840"/>
          </a:xfrm>
          <a:prstGeom prst="parallelogram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03152" y="347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8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02920" y="6473952"/>
            <a:ext cx="397764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699248" y="6473952"/>
            <a:ext cx="388620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6441948"/>
            <a:ext cx="64008" cy="6400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48872" y="6441948"/>
            <a:ext cx="64008" cy="6400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6364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Алгоритмы и структуры данных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" y="117639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Практическая часть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566928" y="1852255"/>
            <a:ext cx="1234440" cy="0"/>
          </a:xfrm>
          <a:prstGeom prst="line">
            <a:avLst/>
          </a:prstGeom>
          <a:noFill/>
          <a:ln w="50800">
            <a:solidFill>
              <a:srgbClr val="0057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8529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20482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57B8"/>
                </a:solidFill>
              </a:rPr>
              <a:t>Что было сделано: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70432" y="241918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57B8"/>
                </a:solidFill>
              </a:rPr>
              <a:t>◦ </a:t>
            </a:r>
            <a:r>
              <a:rPr lang="en-US" sz="1400" dirty="0">
                <a:solidFill>
                  <a:srgbClr val="111111"/>
                </a:solidFill>
              </a:rPr>
              <a:t>Сгенерирован массив из 10 000 уникальных целых чисел.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70432" y="282450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57B8"/>
                </a:solidFill>
              </a:rPr>
              <a:t>◦ </a:t>
            </a:r>
            <a:r>
              <a:rPr lang="en-US" sz="1400" dirty="0">
                <a:solidFill>
                  <a:srgbClr val="111111"/>
                </a:solidFill>
              </a:rPr>
              <a:t>Все элементы поэлементно добавлены в АВЛ-дерево.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0432" y="317575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57B8"/>
                </a:solidFill>
              </a:rPr>
              <a:t>◦ </a:t>
            </a:r>
            <a:r>
              <a:rPr lang="en-US" sz="1400" dirty="0">
                <a:solidFill>
                  <a:srgbClr val="111111"/>
                </a:solidFill>
              </a:rPr>
              <a:t>Случайно выбраны 100 элементов для поиска.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635237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57B8"/>
                </a:solidFill>
              </a:rPr>
              <a:t>◦ </a:t>
            </a:r>
            <a:r>
              <a:rPr lang="en-US" sz="1400" dirty="0">
                <a:solidFill>
                  <a:srgbClr val="111111"/>
                </a:solidFill>
              </a:rPr>
              <a:t>Случайно выбраны 1000 элементов для удаления.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7512" y="524865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" y="41559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57B8"/>
                </a:solidFill>
              </a:rPr>
              <a:t>Что измерялось: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703320" y="5321808"/>
            <a:ext cx="3611880" cy="0"/>
          </a:xfrm>
          <a:prstGeom prst="line">
            <a:avLst/>
          </a:prstGeom>
          <a:noFill/>
          <a:ln w="8890">
            <a:solidFill>
              <a:srgbClr val="A6A6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46141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57B8"/>
                </a:solidFill>
              </a:rPr>
              <a:t>◦ </a:t>
            </a:r>
            <a:r>
              <a:rPr lang="en-US" sz="1400" dirty="0">
                <a:solidFill>
                  <a:srgbClr val="111111"/>
                </a:solidFill>
              </a:rPr>
              <a:t>время выполнения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10586" y="4908837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57B8"/>
                </a:solidFill>
              </a:rPr>
              <a:t>◦ </a:t>
            </a:r>
            <a:r>
              <a:rPr lang="en-US" sz="1400" dirty="0">
                <a:solidFill>
                  <a:srgbClr val="111111"/>
                </a:solidFill>
              </a:rPr>
              <a:t>количество шагов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412480" y="2926080"/>
            <a:ext cx="3108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0" y="3246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0057B8"/>
                </a:solidFill>
              </a:rPr>
              <a:t>  </a:t>
            </a:r>
            <a:r>
              <a:rPr lang="en-US" sz="1600" b="1" dirty="0">
                <a:solidFill>
                  <a:srgbClr val="0057B8"/>
                </a:solidFill>
              </a:rPr>
              <a:t>Файлы проекта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641080" y="3730752"/>
            <a:ext cx="2560320" cy="0"/>
          </a:xfrm>
          <a:prstGeom prst="line">
            <a:avLst/>
          </a:prstGeom>
          <a:noFill/>
          <a:ln w="8890">
            <a:solidFill>
              <a:srgbClr val="A6A6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32520" y="39776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62288" y="4005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avl_coursework.py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732520" y="44348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62288" y="44622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results.csv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73252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62288" y="4919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summary.txt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732520" y="53492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57B8"/>
                </a:solidFill>
              </a:rPr>
              <a:t>▱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62288" y="5376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input_data.txt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66928" y="62362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2" name="Прямоугольник 41"/>
          <p:cNvSpPr/>
          <p:nvPr/>
        </p:nvSpPr>
        <p:spPr>
          <a:xfrm>
            <a:off x="0" y="9145"/>
            <a:ext cx="12192000" cy="111199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58952"/>
            <a:ext cx="1106424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70432" y="301752"/>
            <a:ext cx="0" cy="50292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310896"/>
            <a:ext cx="2743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Московский Государственный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Технический Университет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rot="10800000">
            <a:off x="10561320" y="0"/>
            <a:ext cx="475488" cy="1005840"/>
          </a:xfrm>
          <a:prstGeom prst="chevron">
            <a:avLst/>
          </a:prstGeom>
          <a:solidFill>
            <a:srgbClr val="DBE8F8">
              <a:alpha val="95000"/>
            </a:srgbClr>
          </a:solidFill>
          <a:ln w="12700">
            <a:solidFill>
              <a:srgbClr val="DBE8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0" y="0"/>
            <a:ext cx="1234440" cy="1005840"/>
          </a:xfrm>
          <a:prstGeom prst="parallelogram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03152" y="347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9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02920" y="6473952"/>
            <a:ext cx="397764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699248" y="6473952"/>
            <a:ext cx="388620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6441948"/>
            <a:ext cx="64008" cy="6400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48872" y="6441948"/>
            <a:ext cx="64008" cy="6400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6364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Алгоритмы и структуры данных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12344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Результаты и графики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566928" y="205740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2057400"/>
            <a:ext cx="5120640" cy="445770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130552"/>
            <a:ext cx="170688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Операция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73808" y="2130552"/>
            <a:ext cx="170688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Среднее время, сек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80688" y="2130552"/>
            <a:ext cx="170688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Среднее количество шагов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2503170"/>
            <a:ext cx="5120640" cy="0"/>
          </a:xfrm>
          <a:prstGeom prst="line">
            <a:avLst/>
          </a:prstGeom>
          <a:noFill/>
          <a:ln w="7620">
            <a:solidFill>
              <a:srgbClr val="9DBB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612898"/>
            <a:ext cx="1652016" cy="2994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Вставка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273808" y="2057400"/>
            <a:ext cx="0" cy="445770"/>
          </a:xfrm>
          <a:prstGeom prst="line">
            <a:avLst/>
          </a:prstGeom>
          <a:noFill/>
          <a:ln w="7620">
            <a:solidFill>
              <a:srgbClr val="9DBB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01240" y="2612898"/>
            <a:ext cx="1652016" cy="2994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</a:rPr>
              <a:t>0.0000107123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980688" y="2057400"/>
            <a:ext cx="0" cy="445770"/>
          </a:xfrm>
          <a:prstGeom prst="line">
            <a:avLst/>
          </a:prstGeom>
          <a:noFill/>
          <a:ln w="7620">
            <a:solidFill>
              <a:srgbClr val="9DBB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08120" y="2612898"/>
            <a:ext cx="1652016" cy="2994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</a:rPr>
              <a:t>13.8199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" y="2948940"/>
            <a:ext cx="5120640" cy="0"/>
          </a:xfrm>
          <a:prstGeom prst="line">
            <a:avLst/>
          </a:prstGeom>
          <a:noFill/>
          <a:ln w="7620">
            <a:solidFill>
              <a:srgbClr val="9DBB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058668"/>
            <a:ext cx="1652016" cy="2994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Поиск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273808" y="2503170"/>
            <a:ext cx="0" cy="445770"/>
          </a:xfrm>
          <a:prstGeom prst="line">
            <a:avLst/>
          </a:prstGeom>
          <a:noFill/>
          <a:ln w="7620">
            <a:solidFill>
              <a:srgbClr val="9DBB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01240" y="3058668"/>
            <a:ext cx="1652016" cy="2994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</a:rPr>
              <a:t>0.0000029289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980688" y="2503170"/>
            <a:ext cx="0" cy="445770"/>
          </a:xfrm>
          <a:prstGeom prst="line">
            <a:avLst/>
          </a:prstGeom>
          <a:noFill/>
          <a:ln w="7620">
            <a:solidFill>
              <a:srgbClr val="9DBB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08120" y="3058668"/>
            <a:ext cx="1652016" cy="2994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</a:rPr>
              <a:t>13.04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66928" y="3394710"/>
            <a:ext cx="5120640" cy="0"/>
          </a:xfrm>
          <a:prstGeom prst="line">
            <a:avLst/>
          </a:prstGeom>
          <a:noFill/>
          <a:ln w="7620">
            <a:solidFill>
              <a:srgbClr val="9DBB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504438"/>
            <a:ext cx="1652016" cy="2994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Удаление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273808" y="2948940"/>
            <a:ext cx="0" cy="445770"/>
          </a:xfrm>
          <a:prstGeom prst="line">
            <a:avLst/>
          </a:prstGeom>
          <a:noFill/>
          <a:ln w="7620">
            <a:solidFill>
              <a:srgbClr val="9DBB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01240" y="3504438"/>
            <a:ext cx="1652016" cy="2994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</a:rPr>
              <a:t>0.0000133977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980688" y="2948940"/>
            <a:ext cx="0" cy="445770"/>
          </a:xfrm>
          <a:prstGeom prst="line">
            <a:avLst/>
          </a:prstGeom>
          <a:noFill/>
          <a:ln w="7620">
            <a:solidFill>
              <a:srgbClr val="9DBB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08120" y="3504438"/>
            <a:ext cx="1652016" cy="2994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</a:rPr>
              <a:t>14.329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903720" y="1627632"/>
            <a:ext cx="3931920" cy="594360"/>
          </a:xfrm>
          <a:prstGeom prst="roundRect">
            <a:avLst>
              <a:gd name="adj" fmla="val 18462"/>
            </a:avLst>
          </a:prstGeom>
          <a:solidFill>
            <a:srgbClr val="EAF2FF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68312" y="1755648"/>
            <a:ext cx="384048" cy="3840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7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0" y="1792224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57B8"/>
                </a:solidFill>
              </a:rPr>
              <a:t>✓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7589520" y="1764792"/>
            <a:ext cx="31089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57B8"/>
                </a:solidFill>
              </a:rPr>
              <a:t>Практические значения шагов близки к log₂(10000) ≈ 13,29</a:t>
            </a:r>
            <a:endParaRPr lang="en-US" sz="1700" dirty="0"/>
          </a:p>
        </p:txBody>
      </p:sp>
      <p:pic>
        <p:nvPicPr>
          <p:cNvPr id="43" name="Image 0" descr="/mnt/data/insert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820" y="2423160"/>
            <a:ext cx="1767840" cy="1325880"/>
          </a:xfrm>
          <a:prstGeom prst="rect">
            <a:avLst/>
          </a:prstGeom>
        </p:spPr>
      </p:pic>
      <p:pic>
        <p:nvPicPr>
          <p:cNvPr id="44" name="Image 1" descr="/mnt/data/insert_ste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3020" y="2423160"/>
            <a:ext cx="1767840" cy="1325880"/>
          </a:xfrm>
          <a:prstGeom prst="rect">
            <a:avLst/>
          </a:prstGeom>
        </p:spPr>
      </p:pic>
      <p:pic>
        <p:nvPicPr>
          <p:cNvPr id="45" name="Image 2" descr="/mnt/data/search_ti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908" y="4370832"/>
            <a:ext cx="1889760" cy="1417320"/>
          </a:xfrm>
          <a:prstGeom prst="rect">
            <a:avLst/>
          </a:prstGeom>
        </p:spPr>
      </p:pic>
      <p:pic>
        <p:nvPicPr>
          <p:cNvPr id="46" name="Image 3" descr="/mnt/data/search_step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8540" y="4370832"/>
            <a:ext cx="1889760" cy="1417320"/>
          </a:xfrm>
          <a:prstGeom prst="rect">
            <a:avLst/>
          </a:prstGeom>
        </p:spPr>
      </p:pic>
      <p:pic>
        <p:nvPicPr>
          <p:cNvPr id="47" name="Image 4" descr="/mnt/data/delete_tim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4620" y="4370832"/>
            <a:ext cx="1889760" cy="1417320"/>
          </a:xfrm>
          <a:prstGeom prst="rect">
            <a:avLst/>
          </a:prstGeom>
        </p:spPr>
      </p:pic>
      <p:pic>
        <p:nvPicPr>
          <p:cNvPr id="48" name="Image 5" descr="/mnt/data/delete_step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6380" y="4370832"/>
            <a:ext cx="1889760" cy="1417320"/>
          </a:xfrm>
          <a:prstGeom prst="rect">
            <a:avLst/>
          </a:prstGeom>
        </p:spPr>
      </p:pic>
      <p:sp>
        <p:nvSpPr>
          <p:cNvPr id="49" name="Прямоугольник 48"/>
          <p:cNvSpPr/>
          <p:nvPr/>
        </p:nvSpPr>
        <p:spPr>
          <a:xfrm>
            <a:off x="0" y="9145"/>
            <a:ext cx="12192000" cy="111199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58952"/>
            <a:ext cx="1106424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70432" y="301752"/>
            <a:ext cx="0" cy="50292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310896"/>
            <a:ext cx="2743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Московский Государственный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Технический Университет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rot="10800000">
            <a:off x="10561320" y="0"/>
            <a:ext cx="475488" cy="1005840"/>
          </a:xfrm>
          <a:prstGeom prst="chevron">
            <a:avLst/>
          </a:prstGeom>
          <a:solidFill>
            <a:srgbClr val="DBE8F8">
              <a:alpha val="95000"/>
            </a:srgbClr>
          </a:solidFill>
          <a:ln w="12700">
            <a:solidFill>
              <a:srgbClr val="DBE8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0" y="0"/>
            <a:ext cx="1234440" cy="1005840"/>
          </a:xfrm>
          <a:prstGeom prst="parallelogram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03152" y="347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10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02920" y="6473952"/>
            <a:ext cx="397764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699248" y="6473952"/>
            <a:ext cx="3886200" cy="0"/>
          </a:xfrm>
          <a:prstGeom prst="line">
            <a:avLst/>
          </a:prstGeom>
          <a:noFill/>
          <a:ln w="15240">
            <a:solidFill>
              <a:srgbClr val="0057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6441948"/>
            <a:ext cx="64008" cy="6400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48872" y="6441948"/>
            <a:ext cx="64008" cy="6400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6364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Алгоритмы и структуры данных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15087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Выводы и источники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566928" y="2286000"/>
            <a:ext cx="1234440" cy="0"/>
          </a:xfrm>
          <a:prstGeom prst="line">
            <a:avLst/>
          </a:prstGeom>
          <a:noFill/>
          <a:ln w="50800">
            <a:solidFill>
              <a:srgbClr val="0057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6974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07008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7B8"/>
                </a:solidFill>
              </a:rPr>
              <a:t>Выводы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2960" y="34290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7B8"/>
                </a:solidFill>
              </a:rPr>
              <a:t>• </a:t>
            </a:r>
            <a:r>
              <a:rPr lang="en-US" sz="1500" dirty="0">
                <a:solidFill>
                  <a:srgbClr val="111111"/>
                </a:solidFill>
              </a:rPr>
              <a:t>Было реализовано АВЛ-дерево на Python.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390448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7B8"/>
                </a:solidFill>
              </a:rPr>
              <a:t>• </a:t>
            </a:r>
            <a:r>
              <a:rPr lang="en-US" sz="1500" dirty="0">
                <a:solidFill>
                  <a:srgbClr val="111111"/>
                </a:solidFill>
              </a:rPr>
              <a:t>Реализованы операции вставки, поиска и удаления.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37997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7B8"/>
                </a:solidFill>
              </a:rPr>
              <a:t>• </a:t>
            </a:r>
            <a:r>
              <a:rPr lang="en-US" sz="1500" dirty="0">
                <a:solidFill>
                  <a:srgbClr val="111111"/>
                </a:solidFill>
              </a:rPr>
              <a:t>Проведены замеры времени и количества шагов.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485546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7B8"/>
                </a:solidFill>
              </a:rPr>
              <a:t>• </a:t>
            </a:r>
            <a:r>
              <a:rPr lang="en-US" sz="1500" dirty="0">
                <a:solidFill>
                  <a:srgbClr val="111111"/>
                </a:solidFill>
              </a:rPr>
              <a:t>Практика подтвердила теоретическую сложность O(log n).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53309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7B8"/>
                </a:solidFill>
              </a:rPr>
              <a:t>• </a:t>
            </a:r>
            <a:r>
              <a:rPr lang="en-US" sz="1500" dirty="0">
                <a:solidFill>
                  <a:srgbClr val="111111"/>
                </a:solidFill>
              </a:rPr>
              <a:t>АВЛ-дерево эффективно для частых операций поиска, вставки и удаления.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989320" y="2423160"/>
            <a:ext cx="0" cy="3749040"/>
          </a:xfrm>
          <a:prstGeom prst="line">
            <a:avLst/>
          </a:prstGeom>
          <a:noFill/>
          <a:ln w="8890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6974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08660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7B8"/>
                </a:solidFill>
              </a:rPr>
              <a:t>Источники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473952" y="342900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7B8"/>
                </a:solidFill>
              </a:rPr>
              <a:t>1.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03720" y="34290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Материалы лекций по АиСД.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73952" y="39593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7B8"/>
                </a:solidFill>
              </a:rPr>
              <a:t>2.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03720" y="39593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Г. М. Адельсон-Вельский, Е. М. Ландис.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73952" y="44897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7B8"/>
                </a:solidFill>
              </a:rPr>
              <a:t>3.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903720" y="44897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Документация Python: random, time, csv.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73952" y="502005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7B8"/>
                </a:solidFill>
              </a:rPr>
              <a:t>4.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03720" y="502005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Учебные материалы по АВЛ-деревьям.</a:t>
            </a:r>
            <a:endParaRPr lang="en-US" sz="1500" dirty="0"/>
          </a:p>
        </p:txBody>
      </p:sp>
      <p:sp>
        <p:nvSpPr>
          <p:cNvPr id="35" name="Прямоугольник 34"/>
          <p:cNvSpPr/>
          <p:nvPr/>
        </p:nvSpPr>
        <p:spPr>
          <a:xfrm>
            <a:off x="0" y="9145"/>
            <a:ext cx="12192000" cy="111199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978</Words>
  <Application>Microsoft Office PowerPoint</Application>
  <PresentationFormat>Широкоэкранный</PresentationFormat>
  <Paragraphs>348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Учебная работа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Семестровая работа № 3: АВЛ-дерево</dc:title>
  <dc:subject>Семестровая работа № 3: АВЛ-дерево</dc:subject>
  <dc:creator>Татьяна Безукладнова</dc:creator>
  <cp:lastModifiedBy>Admin</cp:lastModifiedBy>
  <cp:revision>2</cp:revision>
  <dcterms:created xsi:type="dcterms:W3CDTF">2026-05-07T19:12:29Z</dcterms:created>
  <dcterms:modified xsi:type="dcterms:W3CDTF">2026-05-07T19:21:55Z</dcterms:modified>
</cp:coreProperties>
</file>